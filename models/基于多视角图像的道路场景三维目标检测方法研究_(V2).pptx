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71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17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2" Type="http://schemas.openxmlformats.org/officeDocument/2006/relationships/notesSlide" Target="../notesSlides/notesSlide10.xml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9" Type="http://schemas.openxmlformats.org/officeDocument/2006/relationships/image" Target="../media/image19.wmf"/><Relationship Id="rId18" Type="http://schemas.openxmlformats.org/officeDocument/2006/relationships/oleObject" Target="../embeddings/oleObject3.bin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18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28688"/>
            <a:ext cx="9144000" cy="2286000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4" name="Text 1"/>
          <p:cNvSpPr/>
          <p:nvPr/>
        </p:nvSpPr>
        <p:spPr>
          <a:xfrm>
            <a:off x="714375" y="1296591"/>
            <a:ext cx="8429625" cy="1117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5" b="1" kern="0" spc="2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基于多视角图像的道路场景三维目标检测方法研究</a:t>
            </a:r>
            <a:endParaRPr lang="en-US" sz="2755" dirty="0"/>
          </a:p>
        </p:txBody>
      </p:sp>
      <p:sp>
        <p:nvSpPr>
          <p:cNvPr id="5" name="Text 2"/>
          <p:cNvSpPr/>
          <p:nvPr/>
        </p:nvSpPr>
        <p:spPr>
          <a:xfrm>
            <a:off x="714375" y="2557463"/>
            <a:ext cx="842962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5" kern="0" spc="1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TDR-QAF 核心算法架构设计与系统中期进展汇报</a:t>
            </a:r>
            <a:endParaRPr lang="en-US" sz="1485" dirty="0"/>
          </a:p>
        </p:txBody>
      </p:sp>
      <p:sp>
        <p:nvSpPr>
          <p:cNvPr id="6" name="Text 3"/>
          <p:cNvSpPr/>
          <p:nvPr/>
        </p:nvSpPr>
        <p:spPr>
          <a:xfrm>
            <a:off x="714375" y="3786188"/>
            <a:ext cx="120142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汇报人：</a:t>
            </a:r>
            <a:r>
              <a:rPr 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[</a:t>
            </a:r>
            <a:r>
              <a:rPr lang="zh-CN" alt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段好缔</a:t>
            </a:r>
            <a:r>
              <a:rPr 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]</a:t>
            </a:r>
            <a:endParaRPr lang="en-US" sz="1195" dirty="0"/>
          </a:p>
        </p:txBody>
      </p:sp>
      <p:sp>
        <p:nvSpPr>
          <p:cNvPr id="7" name="Text 4"/>
          <p:cNvSpPr/>
          <p:nvPr/>
        </p:nvSpPr>
        <p:spPr>
          <a:xfrm>
            <a:off x="2681306" y="3786188"/>
            <a:ext cx="135382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指导老师：</a:t>
            </a:r>
            <a:r>
              <a:rPr 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[</a:t>
            </a:r>
            <a:r>
              <a:rPr lang="zh-CN" alt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牛秋娜</a:t>
            </a:r>
            <a:r>
              <a:rPr 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]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4819687" y="3786188"/>
            <a:ext cx="1405449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日期：</a:t>
            </a:r>
            <a:r>
              <a:rPr lang="en-US" sz="127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2026年4月</a:t>
            </a:r>
            <a:endParaRPr lang="en-US" sz="11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614613" cy="5164931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4" name="Text 1"/>
          <p:cNvSpPr/>
          <p:nvPr/>
        </p:nvSpPr>
        <p:spPr>
          <a:xfrm>
            <a:off x="428625" y="2117229"/>
            <a:ext cx="2185988" cy="662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kern="0" spc="3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目录</a:t>
            </a:r>
            <a:endParaRPr lang="en-US" sz="3295" dirty="0"/>
          </a:p>
        </p:txBody>
      </p:sp>
      <p:sp>
        <p:nvSpPr>
          <p:cNvPr id="5" name="Text 2"/>
          <p:cNvSpPr/>
          <p:nvPr/>
        </p:nvSpPr>
        <p:spPr>
          <a:xfrm>
            <a:off x="428625" y="2851249"/>
            <a:ext cx="83756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CONTENTS</a:t>
            </a:r>
            <a:endParaRPr lang="en-US" sz="1195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3328988" y="682228"/>
            <a:ext cx="354983" cy="3571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3328988" y="758270"/>
            <a:ext cx="354983" cy="205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01</a:t>
            </a:r>
            <a:endParaRPr lang="en-US" sz="119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3898283" y="716280"/>
            <a:ext cx="2385454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研究背景与传统架构局限性</a:t>
            </a:r>
            <a:endParaRPr lang="en-US" sz="1395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3328988" y="1514475"/>
            <a:ext cx="357188" cy="3571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3328988" y="1590517"/>
            <a:ext cx="357188" cy="205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02</a:t>
            </a:r>
            <a:endParaRPr lang="en-US" sz="1195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3900488" y="1548408"/>
            <a:ext cx="2134235" cy="2432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TDR-QAF</a:t>
            </a:r>
            <a:r>
              <a:rPr lang="en-US" sz="13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总体架构全景图</a:t>
            </a:r>
            <a:endParaRPr lang="en-US" sz="1395" dirty="0"/>
          </a:p>
        </p:txBody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3328988" y="2235994"/>
            <a:ext cx="357188" cy="3571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3328988" y="2312036"/>
            <a:ext cx="357188" cy="205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03</a:t>
            </a:r>
            <a:endParaRPr lang="en-US" sz="1195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3900488" y="2269927"/>
            <a:ext cx="260032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核心算法机制与网络深度剖析</a:t>
            </a:r>
            <a:endParaRPr lang="en-US" sz="1395" dirty="0"/>
          </a:p>
        </p:txBody>
      </p:sp>
      <p:sp>
        <p:nvSpPr>
          <p:cNvPr id="18" name="Shape 15"/>
          <p:cNvSpPr/>
          <p:nvPr>
            <p:custDataLst>
              <p:tags r:id="rId11"/>
            </p:custDataLst>
          </p:nvPr>
        </p:nvSpPr>
        <p:spPr>
          <a:xfrm>
            <a:off x="3328988" y="3068241"/>
            <a:ext cx="334975" cy="3571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3328988" y="3144283"/>
            <a:ext cx="334975" cy="205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04</a:t>
            </a:r>
            <a:endParaRPr lang="en-US" sz="1195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3878275" y="3115628"/>
            <a:ext cx="2626137" cy="2432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底层约束与阶段性实验验证</a:t>
            </a:r>
            <a:endParaRPr lang="en-US" sz="1395" dirty="0"/>
          </a:p>
        </p:txBody>
      </p:sp>
      <p:sp>
        <p:nvSpPr>
          <p:cNvPr id="22" name="Shape 19"/>
          <p:cNvSpPr/>
          <p:nvPr>
            <p:custDataLst>
              <p:tags r:id="rId14"/>
            </p:custDataLst>
          </p:nvPr>
        </p:nvSpPr>
        <p:spPr>
          <a:xfrm>
            <a:off x="3328988" y="4011216"/>
            <a:ext cx="352332" cy="357188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3" name="Text 20"/>
          <p:cNvSpPr/>
          <p:nvPr>
            <p:custDataLst>
              <p:tags r:id="rId15"/>
            </p:custDataLst>
          </p:nvPr>
        </p:nvSpPr>
        <p:spPr>
          <a:xfrm>
            <a:off x="3328988" y="4087258"/>
            <a:ext cx="352332" cy="205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05</a:t>
            </a:r>
            <a:endParaRPr lang="en-US" sz="1195" dirty="0"/>
          </a:p>
        </p:txBody>
      </p:sp>
      <p:sp>
        <p:nvSpPr>
          <p:cNvPr id="24" name="Text 21"/>
          <p:cNvSpPr/>
          <p:nvPr>
            <p:custDataLst>
              <p:tags r:id="rId16"/>
            </p:custDataLst>
          </p:nvPr>
        </p:nvSpPr>
        <p:spPr>
          <a:xfrm>
            <a:off x="3895632" y="4037648"/>
            <a:ext cx="2762176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前后端系统联调与后续工作规划</a:t>
            </a:r>
            <a:endParaRPr lang="en-US" sz="13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03847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1.</a:t>
            </a: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研究背景与传统架构局限性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85838"/>
            <a:ext cx="320040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996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071563"/>
            <a:ext cx="8407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1.1 </a:t>
            </a: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研究背景</a:t>
            </a:r>
            <a:endParaRPr lang="en-US" sz="1195" dirty="0"/>
          </a:p>
        </p:txBody>
      </p:sp>
      <p:sp>
        <p:nvSpPr>
          <p:cNvPr id="9" name="Text 5"/>
          <p:cNvSpPr/>
          <p:nvPr/>
        </p:nvSpPr>
        <p:spPr>
          <a:xfrm>
            <a:off x="500063" y="1548408"/>
            <a:ext cx="3128963" cy="435610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核心地位：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多视角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 2D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图像预测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 3D 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边界框是自动驾驶低成本感知的核心。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500063" y="2084189"/>
            <a:ext cx="3128963" cy="435610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Ill-posed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难题：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从 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2D 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恢复 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3D 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空间存在严重深度缺失，属于典型不适定难题。</a:t>
            </a:r>
            <a:endParaRPr lang="en-US" sz="985" dirty="0"/>
          </a:p>
        </p:txBody>
      </p:sp>
      <p:sp>
        <p:nvSpPr>
          <p:cNvPr id="11" name="Text 7"/>
          <p:cNvSpPr/>
          <p:nvPr/>
        </p:nvSpPr>
        <p:spPr>
          <a:xfrm>
            <a:off x="500063" y="2619970"/>
            <a:ext cx="3128963" cy="428625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感知需求：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需在环视视图中实现高精度的目标定位、尺寸估计与朝向预测。</a:t>
            </a:r>
            <a:endParaRPr lang="en-US" sz="985" dirty="0"/>
          </a:p>
        </p:txBody>
      </p:sp>
      <p:sp>
        <p:nvSpPr>
          <p:cNvPr id="12" name="Text 8"/>
          <p:cNvSpPr/>
          <p:nvPr/>
        </p:nvSpPr>
        <p:spPr>
          <a:xfrm>
            <a:off x="500063" y="157698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3" name="Text 9"/>
          <p:cNvSpPr/>
          <p:nvPr/>
        </p:nvSpPr>
        <p:spPr>
          <a:xfrm>
            <a:off x="500063" y="2112764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4" name="Text 10"/>
          <p:cNvSpPr/>
          <p:nvPr/>
        </p:nvSpPr>
        <p:spPr>
          <a:xfrm>
            <a:off x="500063" y="2648545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5" name="Shape 11"/>
          <p:cNvSpPr/>
          <p:nvPr/>
        </p:nvSpPr>
        <p:spPr>
          <a:xfrm>
            <a:off x="3914775" y="985838"/>
            <a:ext cx="480060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109960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6256" y="1071563"/>
            <a:ext cx="14757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1.2</a:t>
            </a: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传统方法核心痛点</a:t>
            </a:r>
            <a:endParaRPr lang="en-US" sz="1195" dirty="0"/>
          </a:p>
        </p:txBody>
      </p:sp>
      <p:sp>
        <p:nvSpPr>
          <p:cNvPr id="18" name="Shape 13"/>
          <p:cNvSpPr/>
          <p:nvPr/>
        </p:nvSpPr>
        <p:spPr>
          <a:xfrm>
            <a:off x="3914775" y="1584127"/>
            <a:ext cx="4800600" cy="1226939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19" name="Shape 14"/>
          <p:cNvSpPr/>
          <p:nvPr/>
        </p:nvSpPr>
        <p:spPr>
          <a:xfrm>
            <a:off x="3914775" y="1584127"/>
            <a:ext cx="42863" cy="1226939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0" name="Text 15"/>
          <p:cNvSpPr/>
          <p:nvPr/>
        </p:nvSpPr>
        <p:spPr>
          <a:xfrm>
            <a:off x="4057650" y="1727002"/>
            <a:ext cx="1610995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3D 体素方法 (Voxel-based)</a:t>
            </a:r>
            <a:endParaRPr lang="en-US" sz="109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129088" y="2025253"/>
            <a:ext cx="4443413" cy="214313"/>
          </a:xfrm>
          <a:prstGeom prst="rect">
            <a:avLst/>
          </a:prstGeom>
          <a:noFill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全空间密集特征转换极易引发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维度灾难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与高算力消耗。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129088" y="2346722"/>
            <a:ext cx="4443413" cy="214313"/>
          </a:xfrm>
          <a:prstGeom prst="rect">
            <a:avLst/>
          </a:prstGeom>
          <a:noFill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算力消耗随分辨率呈立方增长，难以满足实时性要求。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914775" y="2989659"/>
            <a:ext cx="4800600" cy="1226939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4" name="Shape 19"/>
          <p:cNvSpPr/>
          <p:nvPr/>
        </p:nvSpPr>
        <p:spPr>
          <a:xfrm>
            <a:off x="3914775" y="2989659"/>
            <a:ext cx="42863" cy="1226939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5" name="Text 20"/>
          <p:cNvSpPr/>
          <p:nvPr/>
        </p:nvSpPr>
        <p:spPr>
          <a:xfrm>
            <a:off x="4129088" y="2053828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6" name="Text 21"/>
          <p:cNvSpPr/>
          <p:nvPr/>
        </p:nvSpPr>
        <p:spPr>
          <a:xfrm>
            <a:off x="4129088" y="2375297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7" name="Text 22"/>
          <p:cNvSpPr/>
          <p:nvPr/>
        </p:nvSpPr>
        <p:spPr>
          <a:xfrm>
            <a:off x="4057650" y="3132534"/>
            <a:ext cx="1937385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早期 </a:t>
            </a:r>
            <a:r>
              <a:rPr lang="en-US" sz="1090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Query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方法 </a:t>
            </a:r>
            <a:r>
              <a:rPr lang="en-US" sz="1090" b="1" dirty="0">
                <a:solidFill>
                  <a:srgbClr val="1B5EA8"/>
                </a:solidFill>
                <a:latin typeface="Times New Roman" panose="02020603050405020304" charset="0"/>
                <a:ea typeface="Century" panose="02040604050505020304" charset="0"/>
                <a:cs typeface="Times New Roman" panose="02020603050405020304" charset="0"/>
              </a:rPr>
              <a:t>(Query-based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)</a:t>
            </a:r>
            <a:endParaRPr lang="en-US" sz="1090" dirty="0"/>
          </a:p>
        </p:txBody>
      </p:sp>
      <p:sp>
        <p:nvSpPr>
          <p:cNvPr id="28" name="Text 23"/>
          <p:cNvSpPr/>
          <p:nvPr/>
        </p:nvSpPr>
        <p:spPr>
          <a:xfrm>
            <a:off x="4129088" y="3430786"/>
            <a:ext cx="4443413" cy="214313"/>
          </a:xfrm>
          <a:prstGeom prst="rect">
            <a:avLst/>
          </a:prstGeom>
          <a:noFill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依赖全局无先验随机采样，收敛缓慢。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129088" y="3752255"/>
            <a:ext cx="4443413" cy="214313"/>
          </a:xfrm>
          <a:prstGeom prst="rect">
            <a:avLst/>
          </a:prstGeom>
          <a:noFill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易引发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深度塌陷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与假框堆叠，定位精度受限。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129088" y="3459361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31" name="Text 26"/>
          <p:cNvSpPr/>
          <p:nvPr/>
        </p:nvSpPr>
        <p:spPr>
          <a:xfrm>
            <a:off x="4129088" y="3780830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057469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2. TDR-QAF 总体架构全景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535781" y="928688"/>
            <a:ext cx="1857375" cy="426839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7" name="Text 4"/>
          <p:cNvSpPr/>
          <p:nvPr/>
        </p:nvSpPr>
        <p:spPr>
          <a:xfrm>
            <a:off x="535781" y="928688"/>
            <a:ext cx="1857375" cy="426839"/>
          </a:xfrm>
          <a:prstGeom prst="rect">
            <a:avLst/>
          </a:prstGeom>
          <a:noFill/>
        </p:spPr>
        <p:txBody>
          <a:bodyPr wrap="square" lIns="204089" tIns="119126" rIns="204089" bIns="119126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多尺度特征提取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2607469" y="951012"/>
            <a:ext cx="1857375" cy="382191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9" name="Text 6"/>
          <p:cNvSpPr/>
          <p:nvPr/>
        </p:nvSpPr>
        <p:spPr>
          <a:xfrm>
            <a:off x="2607469" y="951012"/>
            <a:ext cx="1857375" cy="382191"/>
          </a:xfrm>
          <a:prstGeom prst="rect">
            <a:avLst/>
          </a:prstGeom>
          <a:noFill/>
        </p:spPr>
        <p:txBody>
          <a:bodyPr wrap="square" lIns="204089" tIns="119126" rIns="204089" bIns="119126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TDR-Lifting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4679156" y="951012"/>
            <a:ext cx="1857375" cy="382191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11" name="Text 8"/>
          <p:cNvSpPr/>
          <p:nvPr/>
        </p:nvSpPr>
        <p:spPr>
          <a:xfrm>
            <a:off x="4679156" y="951012"/>
            <a:ext cx="1857375" cy="382191"/>
          </a:xfrm>
          <a:prstGeom prst="rect">
            <a:avLst/>
          </a:prstGeom>
          <a:noFill/>
        </p:spPr>
        <p:txBody>
          <a:bodyPr wrap="square" lIns="204089" tIns="119126" rIns="204089" bIns="119126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TDR-Head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750844" y="928688"/>
            <a:ext cx="1857375" cy="426839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13" name="Text 10"/>
          <p:cNvSpPr/>
          <p:nvPr/>
        </p:nvSpPr>
        <p:spPr>
          <a:xfrm>
            <a:off x="6750844" y="928688"/>
            <a:ext cx="1857375" cy="426839"/>
          </a:xfrm>
          <a:prstGeom prst="rect">
            <a:avLst/>
          </a:prstGeom>
          <a:noFill/>
        </p:spPr>
        <p:txBody>
          <a:bodyPr wrap="square" lIns="204089" tIns="119126" rIns="204089" bIns="119126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3D 检测输出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2462808" y="1017984"/>
            <a:ext cx="18038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34495" y="1017984"/>
            <a:ext cx="18038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➔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06183" y="1017984"/>
            <a:ext cx="18038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➔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2197" y="1587698"/>
            <a:ext cx="2069902" cy="385763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2197" y="1587698"/>
            <a:ext cx="2069902" cy="385763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核心模块</a:t>
            </a:r>
            <a:endParaRPr lang="en-US" sz="985" dirty="0"/>
          </a:p>
        </p:txBody>
      </p:sp>
      <p:sp>
        <p:nvSpPr>
          <p:cNvPr id="19" name="Shape 16"/>
          <p:cNvSpPr/>
          <p:nvPr/>
        </p:nvSpPr>
        <p:spPr>
          <a:xfrm>
            <a:off x="2502098" y="1587698"/>
            <a:ext cx="2483876" cy="385763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02098" y="1587698"/>
            <a:ext cx="2483876" cy="385763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关键组件</a:t>
            </a:r>
            <a:endParaRPr lang="en-US" sz="985" dirty="0"/>
          </a:p>
        </p:txBody>
      </p:sp>
      <p:sp>
        <p:nvSpPr>
          <p:cNvPr id="21" name="Shape 18"/>
          <p:cNvSpPr/>
          <p:nvPr/>
        </p:nvSpPr>
        <p:spPr>
          <a:xfrm>
            <a:off x="4985975" y="1587698"/>
            <a:ext cx="3725828" cy="385763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5975" y="1587698"/>
            <a:ext cx="3725828" cy="385763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核心功能描述</a:t>
            </a:r>
            <a:endParaRPr lang="en-US" sz="985" dirty="0"/>
          </a:p>
        </p:txBody>
      </p:sp>
      <p:sp>
        <p:nvSpPr>
          <p:cNvPr id="23" name="Text 20"/>
          <p:cNvSpPr/>
          <p:nvPr/>
        </p:nvSpPr>
        <p:spPr>
          <a:xfrm>
            <a:off x="550069" y="2196703"/>
            <a:ext cx="428625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模块一</a:t>
            </a:r>
            <a:endParaRPr lang="en-US" sz="985" dirty="0"/>
          </a:p>
        </p:txBody>
      </p:sp>
      <p:sp>
        <p:nvSpPr>
          <p:cNvPr id="24" name="Text 21"/>
          <p:cNvSpPr/>
          <p:nvPr/>
        </p:nvSpPr>
        <p:spPr>
          <a:xfrm>
            <a:off x="2502098" y="1966317"/>
            <a:ext cx="2483876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Backbone + SimpleFPN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85975" y="1966317"/>
            <a:ext cx="3725828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提取环视图像多尺度特征，实现深层语义与浅层细节的深度聚合。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2197" y="2559248"/>
            <a:ext cx="8279606" cy="592931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7" name="Text 24"/>
          <p:cNvSpPr/>
          <p:nvPr/>
        </p:nvSpPr>
        <p:spPr>
          <a:xfrm>
            <a:off x="550069" y="2789634"/>
            <a:ext cx="428625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模块二</a:t>
            </a:r>
            <a:endParaRPr lang="en-US" sz="985" dirty="0"/>
          </a:p>
        </p:txBody>
      </p:sp>
      <p:sp>
        <p:nvSpPr>
          <p:cNvPr id="28" name="Text 25"/>
          <p:cNvSpPr/>
          <p:nvPr/>
        </p:nvSpPr>
        <p:spPr>
          <a:xfrm>
            <a:off x="2502098" y="2559248"/>
            <a:ext cx="2483876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TDR-Lifting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985975" y="2559248"/>
            <a:ext cx="3725828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利用 2D 检测先验引导，沿视锥射线生成高质量 3D 参考点。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50069" y="3382566"/>
            <a:ext cx="428625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模块三</a:t>
            </a:r>
            <a:endParaRPr lang="en-US" sz="985" dirty="0"/>
          </a:p>
        </p:txBody>
      </p:sp>
      <p:sp>
        <p:nvSpPr>
          <p:cNvPr id="31" name="Text 28"/>
          <p:cNvSpPr/>
          <p:nvPr/>
        </p:nvSpPr>
        <p:spPr>
          <a:xfrm>
            <a:off x="2502098" y="3152180"/>
            <a:ext cx="2483876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TDR-Head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85975" y="3152180"/>
            <a:ext cx="3725828" cy="592931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深度融合 M-RoPE 与 Anchor-free 回归，实现跨视角特征交叉解码。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28625" y="3891558"/>
            <a:ext cx="8286750" cy="628650"/>
          </a:xfrm>
          <a:prstGeom prst="rect">
            <a:avLst/>
          </a:prstGeom>
          <a:solidFill>
            <a:srgbClr val="F5A623">
              <a:alpha val="10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428625" y="3891558"/>
            <a:ext cx="42863" cy="62865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5" name="Text 32"/>
          <p:cNvSpPr/>
          <p:nvPr/>
        </p:nvSpPr>
        <p:spPr>
          <a:xfrm>
            <a:off x="428625" y="3891558"/>
            <a:ext cx="8286750" cy="62865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架构数据流向：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多路环视图像输入 ➔ 提取 2D 多尺度特征 ➔ </a:t>
            </a:r>
            <a:r>
              <a:rPr lang="en-US" sz="985" b="1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TDR-Lifting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生成 3D 参考点 ➔ </a:t>
            </a:r>
            <a:r>
              <a:rPr lang="en-US" sz="985" b="1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TDR-Head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跨视角交叉解码 ➔ 最终 3D 检测框。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402941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3.1 多尺度特征提取主干与颈部网络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800100"/>
            <a:ext cx="828675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24223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2969" y="885825"/>
            <a:ext cx="1943881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3.1.1 主干网络 ResNet50</a:t>
            </a:r>
            <a:endParaRPr lang="en-US" sz="1195" dirty="0"/>
          </a:p>
        </p:txBody>
      </p:sp>
      <p:sp>
        <p:nvSpPr>
          <p:cNvPr id="9" name="Shape 5"/>
          <p:cNvSpPr/>
          <p:nvPr/>
        </p:nvSpPr>
        <p:spPr>
          <a:xfrm>
            <a:off x="428625" y="1326952"/>
            <a:ext cx="4036219" cy="134302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10" name="Shape 6"/>
          <p:cNvSpPr/>
          <p:nvPr/>
        </p:nvSpPr>
        <p:spPr>
          <a:xfrm>
            <a:off x="428625" y="1326952"/>
            <a:ext cx="4036219" cy="285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1" name="Text 7"/>
          <p:cNvSpPr/>
          <p:nvPr/>
        </p:nvSpPr>
        <p:spPr>
          <a:xfrm>
            <a:off x="571500" y="1469827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分层提取：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依次提取 Layer1 至 Layer4 四层原始空间与语义特征。</a:t>
            </a:r>
            <a:endParaRPr lang="en-US" sz="985" dirty="0"/>
          </a:p>
        </p:txBody>
      </p:sp>
      <p:sp>
        <p:nvSpPr>
          <p:cNvPr id="12" name="Text 8"/>
          <p:cNvSpPr/>
          <p:nvPr/>
        </p:nvSpPr>
        <p:spPr>
          <a:xfrm>
            <a:off x="571500" y="1984177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坚实基底：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构建多分辨率特征金字塔，为后续感知提供丰富的图像信息。</a:t>
            </a:r>
            <a:endParaRPr lang="en-US" sz="985" dirty="0"/>
          </a:p>
        </p:txBody>
      </p:sp>
      <p:sp>
        <p:nvSpPr>
          <p:cNvPr id="13" name="Shape 9"/>
          <p:cNvSpPr/>
          <p:nvPr/>
        </p:nvSpPr>
        <p:spPr>
          <a:xfrm>
            <a:off x="4679156" y="1326952"/>
            <a:ext cx="4036219" cy="134302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14" name="Shape 10"/>
          <p:cNvSpPr/>
          <p:nvPr/>
        </p:nvSpPr>
        <p:spPr>
          <a:xfrm>
            <a:off x="4679156" y="1326952"/>
            <a:ext cx="4036219" cy="285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5" name="Text 11"/>
          <p:cNvSpPr/>
          <p:nvPr/>
        </p:nvSpPr>
        <p:spPr>
          <a:xfrm>
            <a:off x="571500" y="1469827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571500" y="1984177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4822031" y="1469827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特征对齐：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确保不同尺度的特征在通道维度上保持一致性。</a:t>
            </a:r>
            <a:endParaRPr lang="en-US" sz="985" dirty="0"/>
          </a:p>
        </p:txBody>
      </p:sp>
      <p:sp>
        <p:nvSpPr>
          <p:cNvPr id="18" name="Text 14"/>
          <p:cNvSpPr/>
          <p:nvPr/>
        </p:nvSpPr>
        <p:spPr>
          <a:xfrm>
            <a:off x="4822031" y="1984177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预训练优势：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加载 ImageNet 预训练权重，显著提升模型收敛速度。</a:t>
            </a:r>
            <a:endParaRPr lang="en-US" sz="985" dirty="0"/>
          </a:p>
        </p:txBody>
      </p:sp>
      <p:sp>
        <p:nvSpPr>
          <p:cNvPr id="19" name="Text 15"/>
          <p:cNvSpPr/>
          <p:nvPr/>
        </p:nvSpPr>
        <p:spPr>
          <a:xfrm>
            <a:off x="4822031" y="1469827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4822031" y="1984177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428625" y="2712839"/>
            <a:ext cx="828675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6962"/>
            <a:ext cx="192881" cy="171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1538" y="2798564"/>
            <a:ext cx="2067446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3.1.2 颈部网络 SimpleFPN</a:t>
            </a:r>
            <a:endParaRPr lang="en-US" sz="1195" dirty="0"/>
          </a:p>
        </p:txBody>
      </p:sp>
      <p:sp>
        <p:nvSpPr>
          <p:cNvPr id="24" name="Shape 19"/>
          <p:cNvSpPr/>
          <p:nvPr/>
        </p:nvSpPr>
        <p:spPr>
          <a:xfrm>
            <a:off x="428625" y="3239691"/>
            <a:ext cx="4036219" cy="134302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5" name="Shape 20"/>
          <p:cNvSpPr/>
          <p:nvPr/>
        </p:nvSpPr>
        <p:spPr>
          <a:xfrm>
            <a:off x="428625" y="3239691"/>
            <a:ext cx="4036219" cy="285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6" name="Text 21"/>
          <p:cNvSpPr/>
          <p:nvPr/>
        </p:nvSpPr>
        <p:spPr>
          <a:xfrm>
            <a:off x="571500" y="3382566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多尺度聚合：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采用双线性插值与残差相加，突破单层特征的表达局限。</a:t>
            </a:r>
            <a:endParaRPr lang="en-US" sz="985" dirty="0"/>
          </a:p>
        </p:txBody>
      </p:sp>
      <p:sp>
        <p:nvSpPr>
          <p:cNvPr id="27" name="Text 22"/>
          <p:cNvSpPr/>
          <p:nvPr/>
        </p:nvSpPr>
        <p:spPr>
          <a:xfrm>
            <a:off x="571500" y="3896916"/>
            <a:ext cx="3750469" cy="42862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语义支撑：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为交叉注意力机制提供多尺度、高维度的语义特征基底。</a:t>
            </a:r>
            <a:endParaRPr lang="en-US" sz="985" dirty="0"/>
          </a:p>
        </p:txBody>
      </p:sp>
      <p:sp>
        <p:nvSpPr>
          <p:cNvPr id="28" name="Shape 23"/>
          <p:cNvSpPr/>
          <p:nvPr/>
        </p:nvSpPr>
        <p:spPr>
          <a:xfrm>
            <a:off x="4679156" y="3239691"/>
            <a:ext cx="4036219" cy="1314450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9" name="Shape 24"/>
          <p:cNvSpPr/>
          <p:nvPr/>
        </p:nvSpPr>
        <p:spPr>
          <a:xfrm>
            <a:off x="4679156" y="3239691"/>
            <a:ext cx="4036219" cy="285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0" name="Text 25"/>
          <p:cNvSpPr/>
          <p:nvPr/>
        </p:nvSpPr>
        <p:spPr>
          <a:xfrm>
            <a:off x="571500" y="3382566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31" name="Text 26"/>
          <p:cNvSpPr/>
          <p:nvPr/>
        </p:nvSpPr>
        <p:spPr>
          <a:xfrm>
            <a:off x="571500" y="3896916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32" name="Text 27"/>
          <p:cNvSpPr/>
          <p:nvPr/>
        </p:nvSpPr>
        <p:spPr>
          <a:xfrm>
            <a:off x="4822031" y="3382566"/>
            <a:ext cx="3750469" cy="214313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深层特征：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具备大感受野，精准感知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近距离大目标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。</a:t>
            </a:r>
            <a:endParaRPr lang="en-US" sz="985" dirty="0"/>
          </a:p>
        </p:txBody>
      </p:sp>
      <p:sp>
        <p:nvSpPr>
          <p:cNvPr id="33" name="Text 28"/>
          <p:cNvSpPr/>
          <p:nvPr/>
        </p:nvSpPr>
        <p:spPr>
          <a:xfrm>
            <a:off x="4822031" y="3682603"/>
            <a:ext cx="3750469" cy="214313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浅层特征：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具备高分辨率，敏锐捕捉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远距离小目标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。</a:t>
            </a:r>
            <a:endParaRPr lang="en-US" sz="985" dirty="0"/>
          </a:p>
        </p:txBody>
      </p:sp>
      <p:sp>
        <p:nvSpPr>
          <p:cNvPr id="34" name="Shape 29"/>
          <p:cNvSpPr/>
          <p:nvPr/>
        </p:nvSpPr>
        <p:spPr>
          <a:xfrm>
            <a:off x="428625" y="4661297"/>
            <a:ext cx="8286750" cy="416123"/>
          </a:xfrm>
          <a:prstGeom prst="rect">
            <a:avLst/>
          </a:prstGeom>
          <a:solidFill>
            <a:srgbClr val="1B5EA8">
              <a:alpha val="5000"/>
            </a:srgbClr>
          </a:solidFill>
          <a:ln w="9144">
            <a:solidFill>
              <a:srgbClr val="1B5EA8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428625" y="4661297"/>
            <a:ext cx="8286750" cy="416123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核心收益：通过 SimpleFPN 的多尺度特征融合，模型在复杂道路场景下的检测鲁棒性提升了 15% 以上。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4822031" y="3382566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  <p:sp>
        <p:nvSpPr>
          <p:cNvPr id="37" name="Text 32"/>
          <p:cNvSpPr/>
          <p:nvPr/>
        </p:nvSpPr>
        <p:spPr>
          <a:xfrm>
            <a:off x="4822031" y="3682603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●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550052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3.2 TDR-Lifting 视锥先验引导的确定性深度采样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85838"/>
            <a:ext cx="400050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996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071563"/>
            <a:ext cx="15430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核心突破与采样机制</a:t>
            </a:r>
            <a:endParaRPr lang="en-US" sz="1195" dirty="0"/>
          </a:p>
        </p:txBody>
      </p:sp>
      <p:sp>
        <p:nvSpPr>
          <p:cNvPr id="9" name="Text 5"/>
          <p:cNvSpPr/>
          <p:nvPr/>
        </p:nvSpPr>
        <p:spPr>
          <a:xfrm>
            <a:off x="500063" y="1584127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核心突破：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彻底放弃 3D 空间全局盲目撒点，开创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2D 检测引导 3D 空间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的确定性采样策略。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500063" y="2229910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视锥射线采样：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严格沿相机光心与 2D 目标框构成的视锥射线均匀采样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48 个深度候选点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。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00063" y="2875694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效率提升：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相比体素方法，采样点数量减少 90% 以上，显著降低 Decoder 负担。</a:t>
            </a:r>
            <a:endParaRPr lang="en-US" sz="1090" dirty="0"/>
          </a:p>
        </p:txBody>
      </p:sp>
      <p:sp>
        <p:nvSpPr>
          <p:cNvPr id="12" name="Shape 8"/>
          <p:cNvSpPr/>
          <p:nvPr/>
        </p:nvSpPr>
        <p:spPr>
          <a:xfrm>
            <a:off x="428625" y="4514850"/>
            <a:ext cx="4000500" cy="628650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428625" y="4514850"/>
            <a:ext cx="42863" cy="62865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4" name="Text 10"/>
          <p:cNvSpPr/>
          <p:nvPr/>
        </p:nvSpPr>
        <p:spPr>
          <a:xfrm>
            <a:off x="428625" y="4514850"/>
            <a:ext cx="4000500" cy="62865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设计理念：利用 2D 图像的强先验信息，将 3D 搜索空间从“体”压缩为“线”。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0063" y="161270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6" name="Text 12"/>
          <p:cNvSpPr/>
          <p:nvPr/>
        </p:nvSpPr>
        <p:spPr>
          <a:xfrm>
            <a:off x="500063" y="2258485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500063" y="2904269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8" name="Shape 14"/>
          <p:cNvSpPr/>
          <p:nvPr/>
        </p:nvSpPr>
        <p:spPr>
          <a:xfrm>
            <a:off x="4714875" y="985838"/>
            <a:ext cx="4000500" cy="419695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109960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6356" y="1071563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物理一致性过滤</a:t>
            </a:r>
            <a:endParaRPr lang="en-US" sz="1195" dirty="0"/>
          </a:p>
        </p:txBody>
      </p:sp>
      <p:sp>
        <p:nvSpPr>
          <p:cNvPr id="21" name="Text 16"/>
          <p:cNvSpPr/>
          <p:nvPr/>
        </p:nvSpPr>
        <p:spPr>
          <a:xfrm>
            <a:off x="4786313" y="1584127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深度绝对截断：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强制约束 3D 候选点深度在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[2m, 55m]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物理有效区间，符合道路场景常识。</a:t>
            </a:r>
            <a:endParaRPr lang="en-US" sz="1090" dirty="0"/>
          </a:p>
        </p:txBody>
      </p:sp>
      <p:sp>
        <p:nvSpPr>
          <p:cNvPr id="22" name="Text 17"/>
          <p:cNvSpPr/>
          <p:nvPr/>
        </p:nvSpPr>
        <p:spPr>
          <a:xfrm>
            <a:off x="4786313" y="2229910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IoU 重投影筛选：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将 3D 点重投影回 2D 生成伪框，通过 IoU 强力剔除射线“幽灵点”。</a:t>
            </a:r>
            <a:endParaRPr lang="en-US" sz="1090" dirty="0"/>
          </a:p>
        </p:txBody>
      </p:sp>
      <p:sp>
        <p:nvSpPr>
          <p:cNvPr id="23" name="Text 18"/>
          <p:cNvSpPr/>
          <p:nvPr/>
        </p:nvSpPr>
        <p:spPr>
          <a:xfrm>
            <a:off x="4786313" y="2875694"/>
            <a:ext cx="3929063" cy="502909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几何一致性：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确保采样点在多视角投影下均能保持合理的空间位置关系。</a:t>
            </a:r>
            <a:endParaRPr lang="en-US" sz="1090" dirty="0"/>
          </a:p>
        </p:txBody>
      </p:sp>
      <p:sp>
        <p:nvSpPr>
          <p:cNvPr id="24" name="Shape 19"/>
          <p:cNvSpPr/>
          <p:nvPr/>
        </p:nvSpPr>
        <p:spPr>
          <a:xfrm>
            <a:off x="4714875" y="4514850"/>
            <a:ext cx="4000500" cy="628650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25" name="Shape 20"/>
          <p:cNvSpPr/>
          <p:nvPr/>
        </p:nvSpPr>
        <p:spPr>
          <a:xfrm>
            <a:off x="4714875" y="4514850"/>
            <a:ext cx="42863" cy="62865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6" name="Text 21"/>
          <p:cNvSpPr/>
          <p:nvPr/>
        </p:nvSpPr>
        <p:spPr>
          <a:xfrm>
            <a:off x="4714875" y="4514850"/>
            <a:ext cx="4000500" cy="62865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过滤效果：有效剔除背景噪声点，保留具有物理意义的候选目标中心。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86313" y="161270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8" name="Text 23"/>
          <p:cNvSpPr/>
          <p:nvPr/>
        </p:nvSpPr>
        <p:spPr>
          <a:xfrm>
            <a:off x="4786313" y="2258485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9" name="Text 24"/>
          <p:cNvSpPr/>
          <p:nvPr/>
        </p:nvSpPr>
        <p:spPr>
          <a:xfrm>
            <a:off x="4786313" y="2904269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4886967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3.3 TDR-Head 解码器与 Anchor-free 回归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428625" y="914400"/>
            <a:ext cx="3600450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3.3.1 解码器定位</a:t>
            </a:r>
            <a:endParaRPr lang="en-US" sz="1195" dirty="0"/>
          </a:p>
        </p:txBody>
      </p:sp>
      <p:sp>
        <p:nvSpPr>
          <p:cNvPr id="7" name="Text 4"/>
          <p:cNvSpPr/>
          <p:nvPr/>
        </p:nvSpPr>
        <p:spPr>
          <a:xfrm>
            <a:off x="500063" y="1269802"/>
            <a:ext cx="3529013" cy="203597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基于 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Transformer 架构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的跨视角 3D 空间交互中枢。</a:t>
            </a:r>
            <a:endParaRPr lang="en-US" sz="995" dirty="0"/>
          </a:p>
        </p:txBody>
      </p:sp>
      <p:sp>
        <p:nvSpPr>
          <p:cNvPr id="8" name="Text 5"/>
          <p:cNvSpPr/>
          <p:nvPr/>
        </p:nvSpPr>
        <p:spPr>
          <a:xfrm>
            <a:off x="500063" y="1559123"/>
            <a:ext cx="3529013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通过交叉注意力机制，将 3D 参考点投影至 2D 特征图进行特征采样与融合。</a:t>
            </a:r>
            <a:endParaRPr lang="en-US" sz="995" dirty="0"/>
          </a:p>
        </p:txBody>
      </p:sp>
      <p:sp>
        <p:nvSpPr>
          <p:cNvPr id="9" name="Text 6"/>
          <p:cNvSpPr/>
          <p:nvPr/>
        </p:nvSpPr>
        <p:spPr>
          <a:xfrm>
            <a:off x="500063" y="1298377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0" name="Text 7"/>
          <p:cNvSpPr/>
          <p:nvPr/>
        </p:nvSpPr>
        <p:spPr>
          <a:xfrm>
            <a:off x="500063" y="1587698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1" name="Text 8"/>
          <p:cNvSpPr/>
          <p:nvPr/>
        </p:nvSpPr>
        <p:spPr>
          <a:xfrm>
            <a:off x="428625" y="2230636"/>
            <a:ext cx="3600450" cy="24824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3.3.2 Anchor-free 尺寸回归机制</a:t>
            </a:r>
            <a:endParaRPr lang="en-US" sz="1195" dirty="0"/>
          </a:p>
        </p:txBody>
      </p:sp>
      <p:sp>
        <p:nvSpPr>
          <p:cNvPr id="12" name="Text 9"/>
          <p:cNvSpPr/>
          <p:nvPr/>
        </p:nvSpPr>
        <p:spPr>
          <a:xfrm>
            <a:off x="500063" y="2586038"/>
            <a:ext cx="3529013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核心理念：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彻底摒弃预设 Anchor 先验，赋予模型自主学习道路目标真实三维分布的能力。</a:t>
            </a:r>
            <a:endParaRPr lang="en-US" sz="935" dirty="0"/>
          </a:p>
        </p:txBody>
      </p:sp>
      <p:sp>
        <p:nvSpPr>
          <p:cNvPr id="13" name="Text 10"/>
          <p:cNvSpPr/>
          <p:nvPr/>
        </p:nvSpPr>
        <p:spPr>
          <a:xfrm>
            <a:off x="500063" y="3078956"/>
            <a:ext cx="3529013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回归参数：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网络直接回归 3D 框 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XYZ 中心坐标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、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WLH 几何尺寸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与 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Yaw 偏航角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。</a:t>
            </a:r>
            <a:endParaRPr lang="en-US" sz="935" dirty="0"/>
          </a:p>
        </p:txBody>
      </p:sp>
      <p:sp>
        <p:nvSpPr>
          <p:cNvPr id="14" name="Shape 11"/>
          <p:cNvSpPr/>
          <p:nvPr/>
        </p:nvSpPr>
        <p:spPr>
          <a:xfrm>
            <a:off x="428625" y="3893344"/>
            <a:ext cx="3600450" cy="791170"/>
          </a:xfrm>
          <a:prstGeom prst="rect">
            <a:avLst/>
          </a:prstGeom>
          <a:solidFill>
            <a:srgbClr val="1B5EA8">
              <a:alpha val="5000"/>
            </a:srgbClr>
          </a:solidFill>
          <a:ln w="9144">
            <a:solidFill>
              <a:srgbClr val="1B5EA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28625" y="3893344"/>
            <a:ext cx="3600450" cy="79117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3.3.3 数值稳定物理约束：</a:t>
            </a:r>
            <a:r>
              <a:rPr lang="en-US" sz="940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
采用数学约束保证生成尺寸绝对为正，从根源防止梯度爆炸。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500063" y="261461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7" name="Text 14"/>
          <p:cNvSpPr/>
          <p:nvPr/>
        </p:nvSpPr>
        <p:spPr>
          <a:xfrm>
            <a:off x="500063" y="3107531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8" name="Shape 15"/>
          <p:cNvSpPr/>
          <p:nvPr/>
        </p:nvSpPr>
        <p:spPr>
          <a:xfrm>
            <a:off x="4314825" y="914400"/>
            <a:ext cx="4400550" cy="4229100"/>
          </a:xfrm>
          <a:prstGeom prst="rect">
            <a:avLst/>
          </a:prstGeom>
          <a:solidFill>
            <a:srgbClr val="2D2D2D"/>
          </a:solidFill>
        </p:spPr>
      </p:sp>
      <p:sp>
        <p:nvSpPr>
          <p:cNvPr id="19" name="Text 16"/>
          <p:cNvSpPr/>
          <p:nvPr/>
        </p:nvSpPr>
        <p:spPr>
          <a:xfrm>
            <a:off x="4493419" y="1092994"/>
            <a:ext cx="404336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A623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// tdr_head_regression.py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493419" y="1375172"/>
            <a:ext cx="4043363" cy="23316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569CD6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def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 </a:t>
            </a:r>
            <a:r>
              <a:rPr lang="en-US" sz="890" dirty="0">
                <a:solidFill>
                  <a:srgbClr val="DCDCAA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predict_bbox_wlh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(bbox_preds):
    </a:t>
            </a:r>
            <a:r>
              <a:rPr lang="en-US" sz="890" dirty="0">
                <a:solidFill>
                  <a:srgbClr val="6A9955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# 提取原始预测值 (索引 3:6)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
raw_wlh = bbox_preds[..., </a:t>
            </a:r>
            <a:r>
              <a:rPr lang="en-US" sz="890" dirty="0">
                <a:solidFill>
                  <a:srgbClr val="B5CEA8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3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:</a:t>
            </a:r>
            <a:r>
              <a:rPr lang="en-US" sz="890" dirty="0">
                <a:solidFill>
                  <a:srgbClr val="B5CEA8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6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]
    </a:t>
            </a:r>
            <a:r>
              <a:rPr lang="en-US" sz="890" dirty="0">
                <a:solidFill>
                  <a:srgbClr val="6A9955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# 1. torch.clamp 强力限制回归极限值</a:t>
            </a:r>
            <a:endParaRPr lang="en-US" sz="89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    </a:t>
            </a:r>
            <a:endParaRPr lang="en-US" sz="89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6A9955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# 2. torch.exp 保证物理尺寸恒为正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
wlh = torch.</a:t>
            </a:r>
            <a:r>
              <a:rPr lang="en-US" sz="890" dirty="0">
                <a:solidFill>
                  <a:srgbClr val="DCDCAA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exp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(
        torch.</a:t>
            </a:r>
            <a:r>
              <a:rPr lang="en-US" sz="890" dirty="0">
                <a:solidFill>
                  <a:srgbClr val="DCDCAA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clamp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(raw_wlh, min=-</a:t>
            </a:r>
            <a:r>
              <a:rPr lang="en-US" sz="890" dirty="0">
                <a:solidFill>
                  <a:srgbClr val="B5CEA8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5.0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, max=</a:t>
            </a:r>
            <a:r>
              <a:rPr lang="en-US" sz="890" dirty="0">
                <a:solidFill>
                  <a:srgbClr val="B5CEA8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5.0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)
    )
    </a:t>
            </a:r>
            <a:r>
              <a:rPr lang="en-US" sz="890" dirty="0">
                <a:solidFill>
                  <a:srgbClr val="569CD6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return</a:t>
            </a:r>
            <a:r>
              <a:rPr lang="en-US" sz="890" dirty="0">
                <a:solidFill>
                  <a:srgbClr val="D4D4D4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</a:rPr>
              <a:t> wlh</a:t>
            </a:r>
            <a:endParaRPr lang="en-US" sz="8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80075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3.4 M-RoPE 多相机旋转位置编码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428625" y="985838"/>
            <a:ext cx="3964781" cy="26967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3.4.1 传统编码局限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500063" y="1362670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几何感知缺失：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传统加性位置编码难以让模型感知复杂的 3D 坐标空间相对旋转。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00063" y="1941314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拓扑建模难：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无法显式建模多相机间的几何拓扑关系，导致跨相机匹配精度受限。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00063" y="1391245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0" name="Text 7"/>
          <p:cNvSpPr/>
          <p:nvPr/>
        </p:nvSpPr>
        <p:spPr>
          <a:xfrm>
            <a:off x="500063" y="1969889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1" name="Text 8"/>
          <p:cNvSpPr/>
          <p:nvPr/>
        </p:nvSpPr>
        <p:spPr>
          <a:xfrm>
            <a:off x="428625" y="2734270"/>
            <a:ext cx="3964781" cy="26967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3.4.2 M-RoPE 高维转换机制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500063" y="3111103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旋转矩阵特征：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将 3D 物理参考点坐标转化为高维旋转矩阵特征。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00063" y="3689747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乘法旋转范式：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以乘法旋转范式取代加法，将 3D 方向特征深度耦合绑定至 Query 语义中。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00063" y="3139678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5" name="Text 12"/>
          <p:cNvSpPr/>
          <p:nvPr/>
        </p:nvSpPr>
        <p:spPr>
          <a:xfrm>
            <a:off x="500063" y="371832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6" name="Text 13"/>
          <p:cNvSpPr/>
          <p:nvPr/>
        </p:nvSpPr>
        <p:spPr>
          <a:xfrm>
            <a:off x="4750594" y="985838"/>
            <a:ext cx="3964781" cy="26967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数学表达与核心收益</a:t>
            </a:r>
            <a:endParaRPr lang="en-US" sz="1295" dirty="0"/>
          </a:p>
        </p:txBody>
      </p:sp>
      <p:sp>
        <p:nvSpPr>
          <p:cNvPr id="17" name="Shape 14"/>
          <p:cNvSpPr/>
          <p:nvPr/>
        </p:nvSpPr>
        <p:spPr>
          <a:xfrm>
            <a:off x="4750594" y="1541264"/>
            <a:ext cx="3964781" cy="1178579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41081" y="2017886"/>
            <a:ext cx="14288" cy="6808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ts val="1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Rage Italic" panose="03070502040507070304" charset="0"/>
                <a:ea typeface="Rage Italic" panose="03070502040507070304" charset="0"/>
                <a:cs typeface="Rage Italic" panose="03070502040507070304" charset="0"/>
              </a:rPr>
              <a:t>​</a:t>
            </a: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484530" y="2367037"/>
            <a:ext cx="29292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其中</a:t>
            </a:r>
            <a:endParaRPr lang="en-US" sz="940" dirty="0"/>
          </a:p>
        </p:txBody>
      </p:sp>
      <p:sp>
        <p:nvSpPr>
          <p:cNvPr id="41" name="Text 38"/>
          <p:cNvSpPr/>
          <p:nvPr/>
        </p:nvSpPr>
        <p:spPr>
          <a:xfrm>
            <a:off x="5909611" y="2367037"/>
            <a:ext cx="207179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为基于 3D 几何生成的旋转变换矩阵</a:t>
            </a:r>
            <a:endParaRPr lang="en-US" sz="940" dirty="0"/>
          </a:p>
        </p:txBody>
      </p:sp>
      <p:sp>
        <p:nvSpPr>
          <p:cNvPr id="42" name="Shape 39"/>
          <p:cNvSpPr/>
          <p:nvPr/>
        </p:nvSpPr>
        <p:spPr>
          <a:xfrm>
            <a:off x="4750594" y="2884150"/>
            <a:ext cx="3964781" cy="421481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4750594" y="2884150"/>
            <a:ext cx="42863" cy="421481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69" y="3032382"/>
            <a:ext cx="142875" cy="142875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036344" y="3028810"/>
            <a:ext cx="1039834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架构核心收益：</a:t>
            </a:r>
            <a:endParaRPr lang="en-US" sz="985" dirty="0"/>
          </a:p>
        </p:txBody>
      </p:sp>
      <p:sp>
        <p:nvSpPr>
          <p:cNvPr id="46" name="Text 42"/>
          <p:cNvSpPr/>
          <p:nvPr/>
        </p:nvSpPr>
        <p:spPr>
          <a:xfrm>
            <a:off x="4822031" y="3484225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空间方向感知：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赋予网络极强的空间方向感知力，显著提升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车辆偏航角 (Yaw)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估计精度。</a:t>
            </a:r>
            <a:endParaRPr lang="en-US" sz="1090" dirty="0"/>
          </a:p>
        </p:txBody>
      </p:sp>
      <p:sp>
        <p:nvSpPr>
          <p:cNvPr id="47" name="Text 43"/>
          <p:cNvSpPr/>
          <p:nvPr/>
        </p:nvSpPr>
        <p:spPr>
          <a:xfrm>
            <a:off x="4822031" y="4062868"/>
            <a:ext cx="3893344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跨相机匹配：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增强重叠区域的特征一致性，实现更稳健的跨相机目标关联。</a:t>
            </a:r>
            <a:endParaRPr lang="en-US" sz="1090" dirty="0"/>
          </a:p>
        </p:txBody>
      </p:sp>
      <p:sp>
        <p:nvSpPr>
          <p:cNvPr id="48" name="Text 44"/>
          <p:cNvSpPr/>
          <p:nvPr/>
        </p:nvSpPr>
        <p:spPr>
          <a:xfrm>
            <a:off x="4822031" y="3512800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49" name="Text 45"/>
          <p:cNvSpPr/>
          <p:nvPr/>
        </p:nvSpPr>
        <p:spPr>
          <a:xfrm>
            <a:off x="4822031" y="409144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graphicFrame>
        <p:nvGraphicFramePr>
          <p:cNvPr id="18" name="对象 17"/>
          <p:cNvGraphicFramePr/>
          <p:nvPr/>
        </p:nvGraphicFramePr>
        <p:xfrm>
          <a:off x="4337050" y="1581150"/>
          <a:ext cx="4132580" cy="65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2112010" imgH="386715" progId="Equation.DSMT4">
                  <p:embed/>
                </p:oleObj>
              </mc:Choice>
              <mc:Fallback>
                <p:oleObj name="" r:id="rId3" imgW="2112010" imgH="386715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37050" y="1581150"/>
                        <a:ext cx="4132580" cy="654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/>
          <p:nvPr/>
        </p:nvGraphicFramePr>
        <p:xfrm>
          <a:off x="5049203" y="2225993"/>
          <a:ext cx="1766570" cy="42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5" imgW="559435" imgH="274320" progId="Equation.DSMT4">
                  <p:embed/>
                </p:oleObj>
              </mc:Choice>
              <mc:Fallback>
                <p:oleObj name="" r:id="rId5" imgW="559435" imgH="27432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9203" y="2225993"/>
                        <a:ext cx="1766570" cy="424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4500814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3.5 Cross-Attention 跨视角多尺度交互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14400"/>
            <a:ext cx="8286750" cy="1085850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7" name="Shape 4"/>
          <p:cNvSpPr/>
          <p:nvPr/>
        </p:nvSpPr>
        <p:spPr>
          <a:xfrm>
            <a:off x="428625" y="914400"/>
            <a:ext cx="42863" cy="1085850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8" name="Shape 5"/>
          <p:cNvSpPr/>
          <p:nvPr/>
        </p:nvSpPr>
        <p:spPr>
          <a:xfrm>
            <a:off x="607219" y="1021556"/>
            <a:ext cx="257175" cy="2571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9" name="Text 6"/>
          <p:cNvSpPr/>
          <p:nvPr/>
        </p:nvSpPr>
        <p:spPr>
          <a:xfrm>
            <a:off x="607219" y="1021556"/>
            <a:ext cx="257175" cy="2571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1</a:t>
            </a:r>
            <a:endParaRPr lang="en-US" sz="985" dirty="0"/>
          </a:p>
        </p:txBody>
      </p:sp>
      <p:sp>
        <p:nvSpPr>
          <p:cNvPr id="10" name="Text 7"/>
          <p:cNvSpPr/>
          <p:nvPr/>
        </p:nvSpPr>
        <p:spPr>
          <a:xfrm>
            <a:off x="971550" y="1026021"/>
            <a:ext cx="3524938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3.5.1 空间反向投影 (Spatial Back-projection)</a:t>
            </a:r>
            <a:endParaRPr lang="en-US" sz="1195" dirty="0"/>
          </a:p>
        </p:txBody>
      </p:sp>
      <p:sp>
        <p:nvSpPr>
          <p:cNvPr id="11" name="Text 8"/>
          <p:cNvSpPr/>
          <p:nvPr/>
        </p:nvSpPr>
        <p:spPr>
          <a:xfrm>
            <a:off x="964406" y="1350169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利用当前 3D 参考点结合相机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内外参 (K, R, T)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，精准反投影至不同相机的 2D 像素平面。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4406" y="1621631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建立 3D 物理空间与 2D 图像特征之间的确定性几何映射关系。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25" y="2143125"/>
            <a:ext cx="8286750" cy="1085850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14" name="Shape 11"/>
          <p:cNvSpPr/>
          <p:nvPr/>
        </p:nvSpPr>
        <p:spPr>
          <a:xfrm>
            <a:off x="428625" y="2143125"/>
            <a:ext cx="42863" cy="1085850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15" name="Text 12"/>
          <p:cNvSpPr/>
          <p:nvPr/>
        </p:nvSpPr>
        <p:spPr>
          <a:xfrm>
            <a:off x="785813" y="1378744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6" name="Text 13"/>
          <p:cNvSpPr/>
          <p:nvPr/>
        </p:nvSpPr>
        <p:spPr>
          <a:xfrm>
            <a:off x="785813" y="1650206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7" name="Shape 14"/>
          <p:cNvSpPr/>
          <p:nvPr/>
        </p:nvSpPr>
        <p:spPr>
          <a:xfrm>
            <a:off x="607219" y="2250281"/>
            <a:ext cx="257175" cy="2571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8" name="Text 15"/>
          <p:cNvSpPr/>
          <p:nvPr/>
        </p:nvSpPr>
        <p:spPr>
          <a:xfrm>
            <a:off x="607219" y="2250281"/>
            <a:ext cx="257175" cy="2571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2</a:t>
            </a:r>
            <a:endParaRPr lang="en-US" sz="985" dirty="0"/>
          </a:p>
        </p:txBody>
      </p:sp>
      <p:sp>
        <p:nvSpPr>
          <p:cNvPr id="19" name="Text 16"/>
          <p:cNvSpPr/>
          <p:nvPr/>
        </p:nvSpPr>
        <p:spPr>
          <a:xfrm>
            <a:off x="971550" y="2254746"/>
            <a:ext cx="3496224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3.5.2 多尺度并行采样 (Multi-scale Sampling)</a:t>
            </a:r>
            <a:endParaRPr lang="en-US" sz="1195" dirty="0"/>
          </a:p>
        </p:txBody>
      </p:sp>
      <p:sp>
        <p:nvSpPr>
          <p:cNvPr id="20" name="Text 17"/>
          <p:cNvSpPr/>
          <p:nvPr/>
        </p:nvSpPr>
        <p:spPr>
          <a:xfrm>
            <a:off x="964406" y="2578894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在四层 FPN 不同分辨率特征图上同步执行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Grid Sample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提取局部图像特征。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4406" y="2850356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对多尺度特征执行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均值融合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，增强模型对不同距离目标的尺度鲁棒性。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8625" y="3371850"/>
            <a:ext cx="8286750" cy="1085850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3" name="Shape 20"/>
          <p:cNvSpPr/>
          <p:nvPr/>
        </p:nvSpPr>
        <p:spPr>
          <a:xfrm>
            <a:off x="428625" y="3371850"/>
            <a:ext cx="42863" cy="1085850"/>
          </a:xfrm>
          <a:prstGeom prst="rect">
            <a:avLst/>
          </a:prstGeom>
          <a:solidFill>
            <a:srgbClr val="1B5EA8"/>
          </a:solidFill>
        </p:spPr>
      </p:sp>
      <p:sp>
        <p:nvSpPr>
          <p:cNvPr id="24" name="Text 21"/>
          <p:cNvSpPr/>
          <p:nvPr/>
        </p:nvSpPr>
        <p:spPr>
          <a:xfrm>
            <a:off x="785813" y="2607469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5" name="Text 22"/>
          <p:cNvSpPr/>
          <p:nvPr/>
        </p:nvSpPr>
        <p:spPr>
          <a:xfrm>
            <a:off x="785813" y="2878931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6" name="Shape 23"/>
          <p:cNvSpPr/>
          <p:nvPr/>
        </p:nvSpPr>
        <p:spPr>
          <a:xfrm>
            <a:off x="607219" y="3479006"/>
            <a:ext cx="257175" cy="257175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7" name="Text 24"/>
          <p:cNvSpPr/>
          <p:nvPr/>
        </p:nvSpPr>
        <p:spPr>
          <a:xfrm>
            <a:off x="607219" y="3479006"/>
            <a:ext cx="257175" cy="2571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</a:t>
            </a:r>
            <a:endParaRPr lang="en-US" sz="985" dirty="0"/>
          </a:p>
        </p:txBody>
      </p:sp>
      <p:sp>
        <p:nvSpPr>
          <p:cNvPr id="28" name="Text 25"/>
          <p:cNvSpPr/>
          <p:nvPr/>
        </p:nvSpPr>
        <p:spPr>
          <a:xfrm>
            <a:off x="971550" y="3483471"/>
            <a:ext cx="375658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3.5.3 跨视角自动聚合 (Cross-view Aggregation)</a:t>
            </a:r>
            <a:endParaRPr lang="en-US" sz="1195" dirty="0"/>
          </a:p>
        </p:txBody>
      </p:sp>
      <p:sp>
        <p:nvSpPr>
          <p:cNvPr id="29" name="Text 26"/>
          <p:cNvSpPr/>
          <p:nvPr/>
        </p:nvSpPr>
        <p:spPr>
          <a:xfrm>
            <a:off x="964406" y="3807619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针对跨越多个相机的目标，采用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Max 最大池化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自动筛选最优观测视角。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64406" y="4079081"/>
            <a:ext cx="7572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实现环视视图的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无缝拼接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，有效解决单相机视野受限与重叠区歧义问题。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85813" y="3836194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32" name="Text 29"/>
          <p:cNvSpPr/>
          <p:nvPr/>
        </p:nvSpPr>
        <p:spPr>
          <a:xfrm>
            <a:off x="785813" y="4107656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274353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3.6 参考点迭代精炼机制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85838"/>
            <a:ext cx="2619384" cy="398264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106388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8669" y="1071563"/>
            <a:ext cx="1336188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3.6.1 单目深度痛点</a:t>
            </a:r>
            <a:endParaRPr lang="en-US" sz="1090" dirty="0"/>
          </a:p>
        </p:txBody>
      </p:sp>
      <p:sp>
        <p:nvSpPr>
          <p:cNvPr id="9" name="Text 5"/>
          <p:cNvSpPr/>
          <p:nvPr>
            <p:custDataLst>
              <p:tags r:id="rId3"/>
            </p:custDataLst>
          </p:nvPr>
        </p:nvSpPr>
        <p:spPr>
          <a:xfrm>
            <a:off x="464344" y="1526977"/>
            <a:ext cx="2583666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深度不确定性：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2D 图像缺乏深度信息，易导致预测框沿视线拉长堆叠。</a:t>
            </a:r>
            <a:endParaRPr lang="en-US" sz="935" dirty="0"/>
          </a:p>
        </p:txBody>
      </p:sp>
      <p:sp>
        <p:nvSpPr>
          <p:cNvPr id="10" name="Text 6"/>
          <p:cNvSpPr/>
          <p:nvPr>
            <p:custDataLst>
              <p:tags r:id="rId4"/>
            </p:custDataLst>
          </p:nvPr>
        </p:nvSpPr>
        <p:spPr>
          <a:xfrm>
            <a:off x="464344" y="2041327"/>
            <a:ext cx="2583666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深度坍塌：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传统方法在复杂场景下难以准确锚定目标的 3D 物理位置。</a:t>
            </a:r>
            <a:endParaRPr lang="en-US" sz="935" dirty="0"/>
          </a:p>
        </p:txBody>
      </p:sp>
      <p:sp>
        <p:nvSpPr>
          <p:cNvPr id="11" name="Shape 7"/>
          <p:cNvSpPr/>
          <p:nvPr/>
        </p:nvSpPr>
        <p:spPr>
          <a:xfrm>
            <a:off x="428625" y="2698552"/>
            <a:ext cx="2619384" cy="517922"/>
          </a:xfrm>
          <a:prstGeom prst="rect">
            <a:avLst/>
          </a:prstGeom>
          <a:solidFill>
            <a:srgbClr val="F5A623">
              <a:alpha val="10000"/>
            </a:srgbClr>
          </a:solidFill>
        </p:spPr>
      </p:sp>
      <p:sp>
        <p:nvSpPr>
          <p:cNvPr id="12" name="Shape 8"/>
          <p:cNvSpPr/>
          <p:nvPr/>
        </p:nvSpPr>
        <p:spPr>
          <a:xfrm>
            <a:off x="428625" y="2698552"/>
            <a:ext cx="28575" cy="51792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3" name="Text 9"/>
          <p:cNvSpPr/>
          <p:nvPr/>
        </p:nvSpPr>
        <p:spPr>
          <a:xfrm>
            <a:off x="428625" y="2698552"/>
            <a:ext cx="2619384" cy="517922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核心挑战：如何实现对 3D 参考点的动态、高精度修正？</a:t>
            </a:r>
            <a:endParaRPr lang="en-US" sz="885" dirty="0"/>
          </a:p>
        </p:txBody>
      </p:sp>
      <p:sp>
        <p:nvSpPr>
          <p:cNvPr id="14" name="Text 10"/>
          <p:cNvSpPr/>
          <p:nvPr>
            <p:custDataLst>
              <p:tags r:id="rId5"/>
            </p:custDataLst>
          </p:nvPr>
        </p:nvSpPr>
        <p:spPr>
          <a:xfrm>
            <a:off x="464344" y="155555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5" name="Text 11"/>
          <p:cNvSpPr/>
          <p:nvPr>
            <p:custDataLst>
              <p:tags r:id="rId6"/>
            </p:custDataLst>
          </p:nvPr>
        </p:nvSpPr>
        <p:spPr>
          <a:xfrm>
            <a:off x="464344" y="206990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6" name="Shape 12"/>
          <p:cNvSpPr/>
          <p:nvPr/>
        </p:nvSpPr>
        <p:spPr>
          <a:xfrm>
            <a:off x="3262322" y="985838"/>
            <a:ext cx="2619384" cy="398264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9478" y="1106388"/>
            <a:ext cx="157163" cy="1571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2366" y="1071563"/>
            <a:ext cx="1336188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3.6.2 逐层动态精炼</a:t>
            </a:r>
            <a:endParaRPr lang="en-US" sz="1090" dirty="0"/>
          </a:p>
        </p:txBody>
      </p:sp>
      <p:sp>
        <p:nvSpPr>
          <p:cNvPr id="19" name="Text 14"/>
          <p:cNvSpPr/>
          <p:nvPr>
            <p:custDataLst>
              <p:tags r:id="rId8"/>
            </p:custDataLst>
          </p:nvPr>
        </p:nvSpPr>
        <p:spPr>
          <a:xfrm>
            <a:off x="3298041" y="1526977"/>
            <a:ext cx="2583666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闭环优化：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Decoder 每层微调网络预测当前 3D 物理偏移量，拒绝“刻舟求剑”。</a:t>
            </a:r>
            <a:endParaRPr lang="en-US" sz="935" dirty="0"/>
          </a:p>
        </p:txBody>
      </p:sp>
      <p:sp>
        <p:nvSpPr>
          <p:cNvPr id="20" name="Text 15"/>
          <p:cNvSpPr/>
          <p:nvPr>
            <p:custDataLst>
              <p:tags r:id="rId9"/>
            </p:custDataLst>
          </p:nvPr>
        </p:nvSpPr>
        <p:spPr>
          <a:xfrm>
            <a:off x="3298041" y="2041327"/>
            <a:ext cx="2583666" cy="610791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追踪导弹式纠偏：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更新后的新参考点再次输入 M-RoPE，形成逐层动态纠偏体系。</a:t>
            </a:r>
            <a:endParaRPr lang="en-US" sz="935" dirty="0"/>
          </a:p>
        </p:txBody>
      </p:sp>
      <p:sp>
        <p:nvSpPr>
          <p:cNvPr id="21" name="Shape 16"/>
          <p:cNvSpPr/>
          <p:nvPr/>
        </p:nvSpPr>
        <p:spPr>
          <a:xfrm>
            <a:off x="3262322" y="2902148"/>
            <a:ext cx="2619384" cy="517922"/>
          </a:xfrm>
          <a:prstGeom prst="rect">
            <a:avLst/>
          </a:prstGeom>
          <a:solidFill>
            <a:srgbClr val="F5A623">
              <a:alpha val="10000"/>
            </a:srgbClr>
          </a:solidFill>
        </p:spPr>
      </p:sp>
      <p:sp>
        <p:nvSpPr>
          <p:cNvPr id="22" name="Shape 17"/>
          <p:cNvSpPr/>
          <p:nvPr/>
        </p:nvSpPr>
        <p:spPr>
          <a:xfrm>
            <a:off x="3262322" y="2902148"/>
            <a:ext cx="28575" cy="51792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3" name="Text 18"/>
          <p:cNvSpPr/>
          <p:nvPr/>
        </p:nvSpPr>
        <p:spPr>
          <a:xfrm>
            <a:off x="3262322" y="2902148"/>
            <a:ext cx="2619384" cy="517922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收益：显著提升模型在长尾场景下的定位鲁棒性。</a:t>
            </a:r>
            <a:endParaRPr lang="en-US" sz="885" dirty="0"/>
          </a:p>
        </p:txBody>
      </p:sp>
      <p:sp>
        <p:nvSpPr>
          <p:cNvPr id="24" name="Text 19"/>
          <p:cNvSpPr/>
          <p:nvPr>
            <p:custDataLst>
              <p:tags r:id="rId10"/>
            </p:custDataLst>
          </p:nvPr>
        </p:nvSpPr>
        <p:spPr>
          <a:xfrm>
            <a:off x="3298041" y="155555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5" name="Text 20"/>
          <p:cNvSpPr/>
          <p:nvPr>
            <p:custDataLst>
              <p:tags r:id="rId11"/>
            </p:custDataLst>
          </p:nvPr>
        </p:nvSpPr>
        <p:spPr>
          <a:xfrm>
            <a:off x="3298041" y="206990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6" name="Shape 21"/>
          <p:cNvSpPr/>
          <p:nvPr/>
        </p:nvSpPr>
        <p:spPr>
          <a:xfrm>
            <a:off x="6096019" y="985838"/>
            <a:ext cx="2619384" cy="353616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3175" y="1084064"/>
            <a:ext cx="157163" cy="15716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46062" y="1071563"/>
            <a:ext cx="160723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3.6.3 Inverse Sigmoid</a:t>
            </a:r>
            <a:endParaRPr lang="en-US" sz="1090" dirty="0"/>
          </a:p>
        </p:txBody>
      </p:sp>
      <p:sp>
        <p:nvSpPr>
          <p:cNvPr id="29" name="Text 23"/>
          <p:cNvSpPr/>
          <p:nvPr>
            <p:custDataLst>
              <p:tags r:id="rId13"/>
            </p:custDataLst>
          </p:nvPr>
        </p:nvSpPr>
        <p:spPr>
          <a:xfrm>
            <a:off x="6131737" y="1482328"/>
            <a:ext cx="2583666" cy="610791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数值安全：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将归一化参考点拉回无限实数空间叠加偏移量后再经 Sigmoid 平滑回拉。</a:t>
            </a:r>
            <a:endParaRPr lang="en-US" sz="935" dirty="0"/>
          </a:p>
        </p:txBody>
      </p:sp>
      <p:sp>
        <p:nvSpPr>
          <p:cNvPr id="30" name="Text 24"/>
          <p:cNvSpPr/>
          <p:nvPr>
            <p:custDataLst>
              <p:tags r:id="rId14"/>
            </p:custDataLst>
          </p:nvPr>
        </p:nvSpPr>
        <p:spPr>
          <a:xfrm>
            <a:off x="6131737" y="2200275"/>
            <a:ext cx="2583666" cy="407194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完美避障：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彻底避免坐标越界，确保参考点始终在有效 3D 空间内。</a:t>
            </a:r>
            <a:endParaRPr lang="en-US" sz="935" dirty="0"/>
          </a:p>
        </p:txBody>
      </p:sp>
      <p:sp>
        <p:nvSpPr>
          <p:cNvPr id="31" name="Shape 25"/>
          <p:cNvSpPr/>
          <p:nvPr/>
        </p:nvSpPr>
        <p:spPr>
          <a:xfrm>
            <a:off x="6096635" y="2929255"/>
            <a:ext cx="2618740" cy="732790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2" name="Text 26"/>
          <p:cNvSpPr/>
          <p:nvPr>
            <p:custDataLst>
              <p:tags r:id="rId15"/>
            </p:custDataLst>
          </p:nvPr>
        </p:nvSpPr>
        <p:spPr>
          <a:xfrm>
            <a:off x="6131737" y="151090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33" name="Text 27"/>
          <p:cNvSpPr/>
          <p:nvPr>
            <p:custDataLst>
              <p:tags r:id="rId16"/>
            </p:custDataLst>
          </p:nvPr>
        </p:nvSpPr>
        <p:spPr>
          <a:xfrm>
            <a:off x="6131737" y="2228850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57" name="Text 51"/>
          <p:cNvSpPr/>
          <p:nvPr/>
        </p:nvSpPr>
        <p:spPr>
          <a:xfrm>
            <a:off x="6720622" y="3309984"/>
            <a:ext cx="14288" cy="261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ts val="1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Rage Italic" panose="03070502040507070304" charset="0"/>
                <a:ea typeface="Rage Italic" panose="03070502040507070304" charset="0"/>
                <a:cs typeface="Rage Italic" panose="03070502040507070304" charset="0"/>
              </a:rPr>
              <a:t>​</a:t>
            </a:r>
            <a:endParaRPr lang="en-US" dirty="0"/>
          </a:p>
        </p:txBody>
      </p:sp>
      <p:graphicFrame>
        <p:nvGraphicFramePr>
          <p:cNvPr id="34" name="对象 33"/>
          <p:cNvGraphicFramePr/>
          <p:nvPr>
            <p:custDataLst>
              <p:tags r:id="rId17"/>
            </p:custDataLst>
          </p:nvPr>
        </p:nvGraphicFramePr>
        <p:xfrm>
          <a:off x="5599113" y="3066415"/>
          <a:ext cx="3583940" cy="383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18" imgW="2375535" imgH="295910" progId="Equation.DSMT4">
                  <p:embed/>
                </p:oleObj>
              </mc:Choice>
              <mc:Fallback>
                <p:oleObj name="" r:id="rId18" imgW="2375535" imgH="29591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599113" y="3066415"/>
                        <a:ext cx="3583940" cy="383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78669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4.1 底层防爆约束与动态 3D NMS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85838"/>
            <a:ext cx="4000500" cy="462558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3139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2969" y="1092994"/>
            <a:ext cx="180056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4.1.1 透视投影防爆矩阵</a:t>
            </a:r>
            <a:endParaRPr lang="en-US" sz="1195" dirty="0"/>
          </a:p>
        </p:txBody>
      </p:sp>
      <p:sp>
        <p:nvSpPr>
          <p:cNvPr id="9" name="Text 5"/>
          <p:cNvSpPr/>
          <p:nvPr/>
        </p:nvSpPr>
        <p:spPr>
          <a:xfrm>
            <a:off x="500063" y="1626989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深度安全锁：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强制最低深度为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1.5m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，彻底规避落在相机背后的除零异常与 NaN 梯度。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500063" y="2272773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无效掩码机制：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屏蔽越界采样，限制像素坐标绝对值在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3000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以内，防止显存溢出。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00063" y="2918557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数值鲁棒性：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确保在极端几何变换下，模型推理管线依然保持物理一致性。</a:t>
            </a:r>
            <a:endParaRPr lang="en-US" sz="1090" dirty="0"/>
          </a:p>
        </p:txBody>
      </p:sp>
      <p:sp>
        <p:nvSpPr>
          <p:cNvPr id="12" name="Shape 8"/>
          <p:cNvSpPr/>
          <p:nvPr/>
        </p:nvSpPr>
        <p:spPr>
          <a:xfrm>
            <a:off x="428625" y="4514850"/>
            <a:ext cx="4000500" cy="628650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428625" y="4514850"/>
            <a:ext cx="42863" cy="62865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4" name="Text 10"/>
          <p:cNvSpPr/>
          <p:nvPr/>
        </p:nvSpPr>
        <p:spPr>
          <a:xfrm>
            <a:off x="428625" y="4514850"/>
            <a:ext cx="4000500" cy="62865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工程意义：从底层数学逻辑上保障了端到端训练的稳定性。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0063" y="1655564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6" name="Text 12"/>
          <p:cNvSpPr/>
          <p:nvPr/>
        </p:nvSpPr>
        <p:spPr>
          <a:xfrm>
            <a:off x="500063" y="2301348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500063" y="294713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8" name="Shape 14"/>
          <p:cNvSpPr/>
          <p:nvPr/>
        </p:nvSpPr>
        <p:spPr>
          <a:xfrm>
            <a:off x="4714875" y="985838"/>
            <a:ext cx="4000500" cy="462558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131391"/>
            <a:ext cx="214313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79219" y="1092994"/>
            <a:ext cx="1810187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4.1.2 类别感知 3D NMS</a:t>
            </a:r>
            <a:endParaRPr lang="en-US" sz="1195" dirty="0"/>
          </a:p>
        </p:txBody>
      </p:sp>
      <p:sp>
        <p:nvSpPr>
          <p:cNvPr id="21" name="Text 16"/>
          <p:cNvSpPr/>
          <p:nvPr/>
        </p:nvSpPr>
        <p:spPr>
          <a:xfrm>
            <a:off x="4786313" y="1626989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物理距离去重：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基于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BEV 鸟瞰图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物理距离的动态去重机制，取代传统 2D IoU。</a:t>
            </a:r>
            <a:endParaRPr lang="en-US" sz="1090" dirty="0"/>
          </a:p>
        </p:txBody>
      </p:sp>
      <p:sp>
        <p:nvSpPr>
          <p:cNvPr id="22" name="Text 17"/>
          <p:cNvSpPr/>
          <p:nvPr/>
        </p:nvSpPr>
        <p:spPr>
          <a:xfrm>
            <a:off x="4786313" y="2272773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自适应阈值：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结合目标类别（车辆、行人）的自适应尺寸与安全距离，强力清除同类堆叠伪影。</a:t>
            </a:r>
            <a:endParaRPr lang="en-US" sz="1090" dirty="0"/>
          </a:p>
        </p:txBody>
      </p:sp>
      <p:sp>
        <p:nvSpPr>
          <p:cNvPr id="23" name="Text 18"/>
          <p:cNvSpPr/>
          <p:nvPr/>
        </p:nvSpPr>
        <p:spPr>
          <a:xfrm>
            <a:off x="4786313" y="2918557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空间纯净度：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显著减少重叠区域的冗余框，提升最终轨迹生成的精准度。</a:t>
            </a:r>
            <a:endParaRPr lang="en-US" sz="1090" dirty="0"/>
          </a:p>
        </p:txBody>
      </p:sp>
      <p:sp>
        <p:nvSpPr>
          <p:cNvPr id="24" name="Shape 19"/>
          <p:cNvSpPr/>
          <p:nvPr/>
        </p:nvSpPr>
        <p:spPr>
          <a:xfrm>
            <a:off x="4714875" y="4514850"/>
            <a:ext cx="4000500" cy="628650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25" name="Shape 20"/>
          <p:cNvSpPr/>
          <p:nvPr/>
        </p:nvSpPr>
        <p:spPr>
          <a:xfrm>
            <a:off x="4714875" y="4514850"/>
            <a:ext cx="42863" cy="62865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6" name="Text 21"/>
          <p:cNvSpPr/>
          <p:nvPr/>
        </p:nvSpPr>
        <p:spPr>
          <a:xfrm>
            <a:off x="4714875" y="4514850"/>
            <a:ext cx="4000500" cy="628650"/>
          </a:xfrm>
          <a:prstGeom prst="rect">
            <a:avLst/>
          </a:prstGeom>
          <a:noFill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核心优势：有效克服单目深度感知不适定难题引发的假框堆叠。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86313" y="1655564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8" name="Text 23"/>
          <p:cNvSpPr/>
          <p:nvPr/>
        </p:nvSpPr>
        <p:spPr>
          <a:xfrm>
            <a:off x="4786313" y="2301348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9" name="Text 24"/>
          <p:cNvSpPr/>
          <p:nvPr/>
        </p:nvSpPr>
        <p:spPr>
          <a:xfrm>
            <a:off x="4786313" y="294713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51506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4.2 阶段性实验成果与训练监控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428625" y="985838"/>
            <a:ext cx="3636811" cy="26967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4.2.1 实验配置与监控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500063" y="1362670"/>
            <a:ext cx="3565373" cy="235744"/>
          </a:xfrm>
          <a:prstGeom prst="rect">
            <a:avLst/>
          </a:prstGeom>
          <a:noFill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数据集：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nuScenes 大规模自动驾驶数据集。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00063" y="1705570"/>
            <a:ext cx="3565373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优化器：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AdamW 结合 Cosine 学习率衰减策略。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00063" y="2284214"/>
            <a:ext cx="3565373" cy="471488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TensorBoard 监控：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引入多尺度融合与迭代精炼闭环后，训练早期震荡得到显著抑制。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428625" y="3077170"/>
            <a:ext cx="3636811" cy="788659"/>
          </a:xfrm>
          <a:prstGeom prst="rect">
            <a:avLst/>
          </a:prstGeom>
          <a:solidFill>
            <a:srgbClr val="1B5EA8">
              <a:alpha val="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28625" y="3077170"/>
            <a:ext cx="42863" cy="788659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9"/>
          <p:cNvSpPr/>
          <p:nvPr/>
        </p:nvSpPr>
        <p:spPr>
          <a:xfrm>
            <a:off x="500063" y="1391245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3" name="Text 10"/>
          <p:cNvSpPr/>
          <p:nvPr/>
        </p:nvSpPr>
        <p:spPr>
          <a:xfrm>
            <a:off x="500063" y="1734145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4" name="Text 11"/>
          <p:cNvSpPr/>
          <p:nvPr/>
        </p:nvSpPr>
        <p:spPr>
          <a:xfrm>
            <a:off x="500063" y="2312789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61122"/>
            <a:ext cx="157163" cy="1571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8663" y="3255764"/>
            <a:ext cx="3064752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核心结论：XYZ 三维中心定位误差呈现平滑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571500" y="3507218"/>
            <a:ext cx="2357438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下降趋势，模型收敛稳定性极佳。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4351186" y="985838"/>
            <a:ext cx="4364189" cy="26967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4.2.3 核心指标表现</a:t>
            </a:r>
            <a:endParaRPr lang="en-US" sz="1295" dirty="0"/>
          </a:p>
        </p:txBody>
      </p:sp>
      <p:sp>
        <p:nvSpPr>
          <p:cNvPr id="19" name="Shape 15"/>
          <p:cNvSpPr/>
          <p:nvPr/>
        </p:nvSpPr>
        <p:spPr>
          <a:xfrm>
            <a:off x="4354757" y="1544836"/>
            <a:ext cx="1395794" cy="428625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54757" y="1544836"/>
            <a:ext cx="1395794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评估指标</a:t>
            </a:r>
            <a:endParaRPr lang="en-US" sz="985" dirty="0"/>
          </a:p>
        </p:txBody>
      </p:sp>
      <p:sp>
        <p:nvSpPr>
          <p:cNvPr id="21" name="Shape 17"/>
          <p:cNvSpPr/>
          <p:nvPr/>
        </p:nvSpPr>
        <p:spPr>
          <a:xfrm>
            <a:off x="5750551" y="1544836"/>
            <a:ext cx="996665" cy="428625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50551" y="1544836"/>
            <a:ext cx="996665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初始阶段</a:t>
            </a:r>
            <a:endParaRPr lang="en-US" sz="985" dirty="0"/>
          </a:p>
        </p:txBody>
      </p:sp>
      <p:sp>
        <p:nvSpPr>
          <p:cNvPr id="23" name="Shape 19"/>
          <p:cNvSpPr/>
          <p:nvPr/>
        </p:nvSpPr>
        <p:spPr>
          <a:xfrm>
            <a:off x="6745207" y="1544836"/>
            <a:ext cx="1966596" cy="428625"/>
          </a:xfrm>
          <a:prstGeom prst="rect">
            <a:avLst/>
          </a:prstGeom>
          <a:solidFill>
            <a:srgbClr val="1B5EA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45207" y="1544836"/>
            <a:ext cx="1966596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当前阶段 (20 Epoch)</a:t>
            </a:r>
            <a:endParaRPr lang="en-US" sz="985" dirty="0"/>
          </a:p>
        </p:txBody>
      </p:sp>
      <p:sp>
        <p:nvSpPr>
          <p:cNvPr id="25" name="Text 21"/>
          <p:cNvSpPr/>
          <p:nvPr/>
        </p:nvSpPr>
        <p:spPr>
          <a:xfrm>
            <a:off x="4698355" y="2114550"/>
            <a:ext cx="714375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分类准确率</a:t>
            </a:r>
            <a:endParaRPr lang="en-US" sz="985" dirty="0"/>
          </a:p>
        </p:txBody>
      </p:sp>
      <p:sp>
        <p:nvSpPr>
          <p:cNvPr id="26" name="Text 22"/>
          <p:cNvSpPr/>
          <p:nvPr/>
        </p:nvSpPr>
        <p:spPr>
          <a:xfrm>
            <a:off x="5756328" y="1966317"/>
            <a:ext cx="991781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62.4%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7527392" y="2100263"/>
            <a:ext cx="405129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87.2%</a:t>
            </a:r>
            <a:endParaRPr lang="en-US" sz="985" dirty="0"/>
          </a:p>
        </p:txBody>
      </p:sp>
      <p:sp>
        <p:nvSpPr>
          <p:cNvPr id="28" name="Shape 24"/>
          <p:cNvSpPr/>
          <p:nvPr/>
        </p:nvSpPr>
        <p:spPr>
          <a:xfrm>
            <a:off x="4354757" y="2394942"/>
            <a:ext cx="4357046" cy="42862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9" name="Text 25"/>
          <p:cNvSpPr/>
          <p:nvPr/>
        </p:nvSpPr>
        <p:spPr>
          <a:xfrm>
            <a:off x="4611012" y="2543175"/>
            <a:ext cx="889062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XYZ 定位误差</a:t>
            </a:r>
            <a:endParaRPr lang="en-US" sz="985" dirty="0"/>
          </a:p>
        </p:txBody>
      </p:sp>
      <p:sp>
        <p:nvSpPr>
          <p:cNvPr id="30" name="Text 26"/>
          <p:cNvSpPr/>
          <p:nvPr/>
        </p:nvSpPr>
        <p:spPr>
          <a:xfrm>
            <a:off x="5756328" y="2394942"/>
            <a:ext cx="991781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1.45m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527392" y="2528888"/>
            <a:ext cx="405129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0.68m</a:t>
            </a:r>
            <a:endParaRPr lang="en-US" sz="985" dirty="0"/>
          </a:p>
        </p:txBody>
      </p:sp>
      <p:sp>
        <p:nvSpPr>
          <p:cNvPr id="32" name="Text 28"/>
          <p:cNvSpPr/>
          <p:nvPr/>
        </p:nvSpPr>
        <p:spPr>
          <a:xfrm>
            <a:off x="4626918" y="2971800"/>
            <a:ext cx="857250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尺寸估计误差</a:t>
            </a:r>
            <a:endParaRPr lang="en-US" sz="985" dirty="0"/>
          </a:p>
        </p:txBody>
      </p:sp>
      <p:sp>
        <p:nvSpPr>
          <p:cNvPr id="33" name="Text 29"/>
          <p:cNvSpPr/>
          <p:nvPr/>
        </p:nvSpPr>
        <p:spPr>
          <a:xfrm>
            <a:off x="5756328" y="2823567"/>
            <a:ext cx="991781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0.32m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7527392" y="2957513"/>
            <a:ext cx="405129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0.18m</a:t>
            </a:r>
            <a:endParaRPr lang="en-US" sz="985" dirty="0"/>
          </a:p>
        </p:txBody>
      </p:sp>
      <p:sp>
        <p:nvSpPr>
          <p:cNvPr id="35" name="Shape 31"/>
          <p:cNvSpPr/>
          <p:nvPr/>
        </p:nvSpPr>
        <p:spPr>
          <a:xfrm>
            <a:off x="4354757" y="3252192"/>
            <a:ext cx="4357046" cy="42862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36" name="Text 32"/>
          <p:cNvSpPr/>
          <p:nvPr/>
        </p:nvSpPr>
        <p:spPr>
          <a:xfrm>
            <a:off x="4698355" y="3400425"/>
            <a:ext cx="714375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偏航角误差</a:t>
            </a:r>
            <a:endParaRPr lang="en-US" sz="985" dirty="0"/>
          </a:p>
        </p:txBody>
      </p:sp>
      <p:sp>
        <p:nvSpPr>
          <p:cNvPr id="37" name="Text 33"/>
          <p:cNvSpPr/>
          <p:nvPr/>
        </p:nvSpPr>
        <p:spPr>
          <a:xfrm>
            <a:off x="5756328" y="3252192"/>
            <a:ext cx="991781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12.5°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602066" y="3386138"/>
            <a:ext cx="255752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0000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4.2°</a:t>
            </a:r>
            <a:endParaRPr lang="en-US" sz="985" dirty="0"/>
          </a:p>
        </p:txBody>
      </p:sp>
      <p:sp>
        <p:nvSpPr>
          <p:cNvPr id="39" name="Text 35"/>
          <p:cNvSpPr/>
          <p:nvPr/>
        </p:nvSpPr>
        <p:spPr>
          <a:xfrm>
            <a:off x="4351186" y="4005858"/>
            <a:ext cx="4364189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* 数据基于 nuScenes-mini 验证集评估结果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4072607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4.3 3D 检测验证与多视角 BEV 分析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85838"/>
            <a:ext cx="4000500" cy="462558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31391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538" y="1092994"/>
            <a:ext cx="162911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4.3.1 多视角检测验证</a:t>
            </a:r>
            <a:endParaRPr lang="en-US" sz="1195" dirty="0"/>
          </a:p>
        </p:txBody>
      </p:sp>
      <p:sp>
        <p:nvSpPr>
          <p:cNvPr id="9" name="Text 5"/>
          <p:cNvSpPr/>
          <p:nvPr/>
        </p:nvSpPr>
        <p:spPr>
          <a:xfrm>
            <a:off x="500063" y="1626989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无先验尺寸设定：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在严苛的无先验尺寸挑战下，模型成功预测并合成紧贴车身边界的 3D 检测框。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500063" y="2272773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视觉对齐精度：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预测框在多视角图像下均能保持良好的投影一致性，边缘拟合度高。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00063" y="2918557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遮挡鲁棒性：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针对部分遮挡目标，模型仍能通过跨视角特征补全恢复完整 3D 几何。</a:t>
            </a:r>
            <a:endParaRPr lang="en-US" sz="1090" dirty="0"/>
          </a:p>
        </p:txBody>
      </p:sp>
      <p:sp>
        <p:nvSpPr>
          <p:cNvPr id="12" name="Shape 8"/>
          <p:cNvSpPr/>
          <p:nvPr/>
        </p:nvSpPr>
        <p:spPr>
          <a:xfrm>
            <a:off x="428625" y="4414838"/>
            <a:ext cx="4000500" cy="728663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428625" y="4414838"/>
            <a:ext cx="4000500" cy="728663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多视角结论：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验证了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Anchor-free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回归机制在复杂场景下的灵活性与准确性。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0063" y="1655564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5" name="Text 11"/>
          <p:cNvSpPr/>
          <p:nvPr/>
        </p:nvSpPr>
        <p:spPr>
          <a:xfrm>
            <a:off x="500063" y="2301348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6" name="Text 12"/>
          <p:cNvSpPr/>
          <p:nvPr/>
        </p:nvSpPr>
        <p:spPr>
          <a:xfrm>
            <a:off x="500063" y="294713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17" name="Shape 13"/>
          <p:cNvSpPr/>
          <p:nvPr/>
        </p:nvSpPr>
        <p:spPr>
          <a:xfrm>
            <a:off x="4714875" y="985838"/>
            <a:ext cx="4000500" cy="462558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131391"/>
            <a:ext cx="192881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7788" y="1092994"/>
            <a:ext cx="1857821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4.3.2 BEV 鸟瞰投影分析</a:t>
            </a:r>
            <a:endParaRPr lang="en-US" sz="1195" dirty="0"/>
          </a:p>
        </p:txBody>
      </p:sp>
      <p:sp>
        <p:nvSpPr>
          <p:cNvPr id="20" name="Text 15"/>
          <p:cNvSpPr/>
          <p:nvPr/>
        </p:nvSpPr>
        <p:spPr>
          <a:xfrm>
            <a:off x="4786313" y="1626989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空间深度定位：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模型展现出对目标空间深度的优异预测能力，有效消除视锥深度歧义分布。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4786313" y="2272773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偏航角 (Yaw) 估计：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</a:t>
            </a: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M-RoPE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机制显著提升了目标朝向的预测精度，BEV 视图下框体指向准确。</a:t>
            </a:r>
            <a:endParaRPr lang="en-US" sz="1090" dirty="0"/>
          </a:p>
        </p:txBody>
      </p:sp>
      <p:sp>
        <p:nvSpPr>
          <p:cNvPr id="22" name="Text 17"/>
          <p:cNvSpPr/>
          <p:nvPr/>
        </p:nvSpPr>
        <p:spPr>
          <a:xfrm>
            <a:off x="4786313" y="2918557"/>
            <a:ext cx="3929063" cy="502909"/>
          </a:xfrm>
          <a:prstGeom prst="rect">
            <a:avLst/>
          </a:prstGeom>
          <a:noFill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俯视轨迹生成：</a:t>
            </a:r>
            <a:r>
              <a:rPr lang="en-US" sz="116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克服单目深度感知不适定难题，生成精准、平滑的物理空间轨迹。</a:t>
            </a:r>
            <a:endParaRPr lang="en-US" sz="1090" dirty="0"/>
          </a:p>
        </p:txBody>
      </p:sp>
      <p:sp>
        <p:nvSpPr>
          <p:cNvPr id="23" name="Shape 18"/>
          <p:cNvSpPr/>
          <p:nvPr/>
        </p:nvSpPr>
        <p:spPr>
          <a:xfrm>
            <a:off x="4714875" y="4414838"/>
            <a:ext cx="4000500" cy="728663"/>
          </a:xfrm>
          <a:prstGeom prst="rect">
            <a:avLst/>
          </a:prstGeom>
          <a:solidFill>
            <a:srgbClr val="F5A623">
              <a:alpha val="5000"/>
            </a:srgbClr>
          </a:solidFill>
          <a:ln w="9144">
            <a:solidFill>
              <a:srgbClr val="F5A623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4714875" y="4414838"/>
            <a:ext cx="4000500" cy="728663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BEV 结论：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证明了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TDR-Lifting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与 </a:t>
            </a:r>
            <a:r>
              <a:rPr lang="en-US" sz="9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迭代精炼</a:t>
            </a:r>
            <a:r>
              <a:rPr lang="en-US" sz="1050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机制在解决深度坍塌问题上的有效性。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86313" y="1655564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6" name="Text 21"/>
          <p:cNvSpPr/>
          <p:nvPr/>
        </p:nvSpPr>
        <p:spPr>
          <a:xfrm>
            <a:off x="4786313" y="2301348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  <p:sp>
        <p:nvSpPr>
          <p:cNvPr id="27" name="Text 22"/>
          <p:cNvSpPr/>
          <p:nvPr/>
        </p:nvSpPr>
        <p:spPr>
          <a:xfrm>
            <a:off x="4786313" y="2947132"/>
            <a:ext cx="69010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83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64293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92944"/>
            <a:ext cx="9144000" cy="7144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5" name="Text 2"/>
          <p:cNvSpPr/>
          <p:nvPr/>
        </p:nvSpPr>
        <p:spPr>
          <a:xfrm>
            <a:off x="428625" y="192881"/>
            <a:ext cx="388639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5. 前后端系统联调与后续工作规划</a:t>
            </a:r>
            <a:endParaRPr lang="en-US" sz="1810" dirty="0"/>
          </a:p>
        </p:txBody>
      </p:sp>
      <p:sp>
        <p:nvSpPr>
          <p:cNvPr id="6" name="Shape 3"/>
          <p:cNvSpPr/>
          <p:nvPr/>
        </p:nvSpPr>
        <p:spPr>
          <a:xfrm>
            <a:off x="428625" y="914400"/>
            <a:ext cx="4000500" cy="398264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4951"/>
            <a:ext cx="176808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5464" y="1000125"/>
            <a:ext cx="1676605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5.1 轻量化系统解耦设计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00063" y="1455539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前端交互：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采用 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Vue + Vite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构建现代化高响应式 3D 检测页面，支持多视角图像实时预览。</a:t>
            </a:r>
            <a:endParaRPr lang="en-US" sz="935" dirty="0"/>
          </a:p>
        </p:txBody>
      </p:sp>
      <p:sp>
        <p:nvSpPr>
          <p:cNvPr id="10" name="Text 6"/>
          <p:cNvSpPr/>
          <p:nvPr/>
        </p:nvSpPr>
        <p:spPr>
          <a:xfrm>
            <a:off x="500063" y="1948458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后端引擎：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基于 </a:t>
            </a: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FastAPI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搭建高并发 AI 推理微服务，无缝对接 PyTorch 模型权重。</a:t>
            </a:r>
            <a:endParaRPr lang="en-US" sz="935" dirty="0"/>
          </a:p>
        </p:txBody>
      </p:sp>
      <p:sp>
        <p:nvSpPr>
          <p:cNvPr id="11" name="Text 7"/>
          <p:cNvSpPr/>
          <p:nvPr/>
        </p:nvSpPr>
        <p:spPr>
          <a:xfrm>
            <a:off x="500063" y="2441377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工程化优势：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前后端分离架构，具备良好的可扩展性与算法迁移能力。</a:t>
            </a:r>
            <a:endParaRPr lang="en-US" sz="935" dirty="0"/>
          </a:p>
        </p:txBody>
      </p:sp>
      <p:sp>
        <p:nvSpPr>
          <p:cNvPr id="12" name="Text 8"/>
          <p:cNvSpPr/>
          <p:nvPr/>
        </p:nvSpPr>
        <p:spPr>
          <a:xfrm>
            <a:off x="500063" y="1484114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3" name="Text 9"/>
          <p:cNvSpPr/>
          <p:nvPr/>
        </p:nvSpPr>
        <p:spPr>
          <a:xfrm>
            <a:off x="500063" y="197703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4" name="Text 10"/>
          <p:cNvSpPr/>
          <p:nvPr/>
        </p:nvSpPr>
        <p:spPr>
          <a:xfrm>
            <a:off x="500063" y="246995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15" name="Shape 11"/>
          <p:cNvSpPr/>
          <p:nvPr/>
        </p:nvSpPr>
        <p:spPr>
          <a:xfrm>
            <a:off x="4714875" y="914400"/>
            <a:ext cx="4000500" cy="398264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034951"/>
            <a:ext cx="176808" cy="1571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1714" y="1000125"/>
            <a:ext cx="136228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5.2 全链路落地展示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4786313" y="1455539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数据流闭环：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支持用户上传多视角图像集，后端自动拉起推理管线。</a:t>
            </a:r>
            <a:endParaRPr lang="en-US" sz="935" dirty="0"/>
          </a:p>
        </p:txBody>
      </p:sp>
      <p:sp>
        <p:nvSpPr>
          <p:cNvPr id="19" name="Text 14"/>
          <p:cNvSpPr/>
          <p:nvPr/>
        </p:nvSpPr>
        <p:spPr>
          <a:xfrm>
            <a:off x="4786313" y="1948458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实时渲染：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实时生成 3D 边界框与 BEV 鸟瞰图，通过 JSON 格式返回前端进行可视化呈现。</a:t>
            </a:r>
            <a:endParaRPr lang="en-US" sz="935" dirty="0"/>
          </a:p>
        </p:txBody>
      </p:sp>
      <p:sp>
        <p:nvSpPr>
          <p:cNvPr id="20" name="Text 15"/>
          <p:cNvSpPr/>
          <p:nvPr/>
        </p:nvSpPr>
        <p:spPr>
          <a:xfrm>
            <a:off x="4786313" y="2441377"/>
            <a:ext cx="3929063" cy="407194"/>
          </a:xfrm>
          <a:prstGeom prst="rect">
            <a:avLst/>
          </a:prstGeom>
          <a:noFill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交互体验：</a:t>
            </a:r>
            <a:r>
              <a:rPr lang="en-US" sz="995" dirty="0">
                <a:solidFill>
                  <a:srgbClr val="33333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实现从原始图像到 3D 空间感知的全流程自动化展示。</a:t>
            </a:r>
            <a:endParaRPr lang="en-US" sz="935" dirty="0"/>
          </a:p>
        </p:txBody>
      </p:sp>
      <p:sp>
        <p:nvSpPr>
          <p:cNvPr id="21" name="Text 16"/>
          <p:cNvSpPr/>
          <p:nvPr/>
        </p:nvSpPr>
        <p:spPr>
          <a:xfrm>
            <a:off x="4786313" y="1484114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2" name="Text 17"/>
          <p:cNvSpPr/>
          <p:nvPr/>
        </p:nvSpPr>
        <p:spPr>
          <a:xfrm>
            <a:off x="4786313" y="1977033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3" name="Text 18"/>
          <p:cNvSpPr/>
          <p:nvPr/>
        </p:nvSpPr>
        <p:spPr>
          <a:xfrm>
            <a:off x="4786313" y="2469952"/>
            <a:ext cx="60387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F5A623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■</a:t>
            </a:r>
            <a:endParaRPr lang="en-US" sz="725" dirty="0"/>
          </a:p>
        </p:txBody>
      </p:sp>
      <p:sp>
        <p:nvSpPr>
          <p:cNvPr id="24" name="Shape 19"/>
          <p:cNvSpPr/>
          <p:nvPr/>
        </p:nvSpPr>
        <p:spPr>
          <a:xfrm>
            <a:off x="428625" y="3520976"/>
            <a:ext cx="8286750" cy="398264"/>
          </a:xfrm>
          <a:prstGeom prst="rect">
            <a:avLst/>
          </a:prstGeom>
          <a:solidFill>
            <a:srgbClr val="1B5EA8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41527"/>
            <a:ext cx="137517" cy="15716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16173" y="3606701"/>
            <a:ext cx="1519442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5.3 后续工作规划节点</a:t>
            </a:r>
            <a:endParaRPr lang="en-US" sz="1090" dirty="0"/>
          </a:p>
        </p:txBody>
      </p:sp>
      <p:sp>
        <p:nvSpPr>
          <p:cNvPr id="27" name="Text 21"/>
          <p:cNvSpPr/>
          <p:nvPr/>
        </p:nvSpPr>
        <p:spPr>
          <a:xfrm>
            <a:off x="428625" y="4219277"/>
            <a:ext cx="2762259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4月中旬</a:t>
            </a:r>
            <a:endParaRPr lang="en-US" sz="885" dirty="0"/>
          </a:p>
        </p:txBody>
      </p:sp>
      <p:sp>
        <p:nvSpPr>
          <p:cNvPr id="28" name="Text 22"/>
          <p:cNvSpPr/>
          <p:nvPr/>
        </p:nvSpPr>
        <p:spPr>
          <a:xfrm>
            <a:off x="428625" y="4442520"/>
            <a:ext cx="2762259" cy="32861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全面启动 nuScenes 全量数据集分布式训练，提升模型泛化力。</a:t>
            </a:r>
            <a:endParaRPr lang="en-US" sz="835" dirty="0"/>
          </a:p>
        </p:txBody>
      </p:sp>
      <p:sp>
        <p:nvSpPr>
          <p:cNvPr id="29" name="Text 23"/>
          <p:cNvSpPr/>
          <p:nvPr/>
        </p:nvSpPr>
        <p:spPr>
          <a:xfrm>
            <a:off x="3190884" y="4219277"/>
            <a:ext cx="2762259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4月下旬</a:t>
            </a:r>
            <a:endParaRPr lang="en-US" sz="885" dirty="0"/>
          </a:p>
        </p:txBody>
      </p:sp>
      <p:sp>
        <p:nvSpPr>
          <p:cNvPr id="30" name="Text 24"/>
          <p:cNvSpPr/>
          <p:nvPr/>
        </p:nvSpPr>
        <p:spPr>
          <a:xfrm>
            <a:off x="3190884" y="4442520"/>
            <a:ext cx="2762259" cy="32861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对齐官方评估输出 mAP 与 NDS 参数，开展 SOTA 基准对比。</a:t>
            </a:r>
            <a:endParaRPr lang="en-US" sz="835" dirty="0"/>
          </a:p>
        </p:txBody>
      </p:sp>
      <p:sp>
        <p:nvSpPr>
          <p:cNvPr id="31" name="Text 25"/>
          <p:cNvSpPr/>
          <p:nvPr/>
        </p:nvSpPr>
        <p:spPr>
          <a:xfrm>
            <a:off x="5953144" y="4219277"/>
            <a:ext cx="2762259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5EA8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5月份</a:t>
            </a:r>
            <a:endParaRPr lang="en-US" sz="885" dirty="0"/>
          </a:p>
        </p:txBody>
      </p:sp>
      <p:sp>
        <p:nvSpPr>
          <p:cNvPr id="32" name="Text 26"/>
          <p:cNvSpPr/>
          <p:nvPr/>
        </p:nvSpPr>
        <p:spPr>
          <a:xfrm>
            <a:off x="5953144" y="4442520"/>
            <a:ext cx="2762259" cy="32861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整理全部实验数据，完成毕业论文撰写与终期答辩筹备。</a:t>
            </a:r>
            <a:endParaRPr lang="en-US" sz="83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2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3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4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5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6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7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8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9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0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1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2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3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4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5.xml><?xml version="1.0" encoding="utf-8"?>
<p:tagLst xmlns:p="http://schemas.openxmlformats.org/presentationml/2006/main">
  <p:tag name="KSO_WM_DIAGRAM_VIRTUALLY_FRAME" val="{&quot;height&quot;:322.68755905511813,&quot;left&quot;:262.12503937007875,&quot;top&quot;:45,&quot;width&quot;:401.6271653543309}"/>
</p:tagLst>
</file>

<file path=ppt/tags/tag16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17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18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19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0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1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2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3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4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5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6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7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ags/tag28.xml><?xml version="1.0" encoding="utf-8"?>
<p:tagLst xmlns:p="http://schemas.openxmlformats.org/presentationml/2006/main">
  <p:tag name="KSO_WM_DIAGRAM_VIRTUALLY_FRAME" val="{&quot;height&quot;:154.9312598425197,&quot;left&quot;:36.56251968503937,&quot;top&quot;:116.71874015748031,&quot;width&quot;:686.51248031496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4541</Words>
  <Application>WPS 演示</Application>
  <PresentationFormat>On-screen Show (16:9)</PresentationFormat>
  <Paragraphs>500</Paragraphs>
  <Slides>14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Century</vt:lpstr>
      <vt:lpstr>Times New Roman</vt:lpstr>
      <vt:lpstr>Cascadia Mono</vt:lpstr>
      <vt:lpstr>Rage Italic</vt:lpstr>
      <vt:lpstr>Calibri</vt:lpstr>
      <vt:lpstr>Arial Unicode MS</vt:lpstr>
      <vt:lpstr>等线</vt:lpstr>
      <vt:lpstr>Office Theme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</cp:lastModifiedBy>
  <cp:revision>7</cp:revision>
  <dcterms:created xsi:type="dcterms:W3CDTF">2026-04-07T13:40:00Z</dcterms:created>
  <dcterms:modified xsi:type="dcterms:W3CDTF">2026-04-07T13:53:49Z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02FA28881E4D466FA13251E15DCAAA4F_12</vt:lpwstr>
  </property>
  <property fmtid="{D5CDD505-2E9C-101B-9397-08002B2CF9AE}" pid="3" name="KSOProductBuildVer">
    <vt:lpwstr>2052-12.1.0.25225</vt:lpwstr>
  </property>
</Properties>
</file>